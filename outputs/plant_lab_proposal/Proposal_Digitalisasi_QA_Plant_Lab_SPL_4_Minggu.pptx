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f3ef5393b4286" /><Relationship Type="http://schemas.openxmlformats.org/officeDocument/2006/relationships/extended-properties" Target="/docProps/app.xml" Id="R05b0cdc5d57e4a02" /><Relationship Type="http://schemas.openxmlformats.org/officeDocument/2006/relationships/officeDocument" Target="/ppt/presentation.xml" Id="R18b19951fd64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9ef7b4303f4927"/>
  </p:sldMasterIdLst>
  <p:notesMasterIdLst>
    <p:notesMasterId xmlns:r="http://schemas.openxmlformats.org/officeDocument/2006/relationships" r:id="R22431e67f7624412"/>
  </p:notesMasterIdLst>
  <p:sldIdLst>
    <p:sldId xmlns:r="http://schemas.openxmlformats.org/officeDocument/2006/relationships" id="256" r:id="R0a8514523df143c3"/>
    <p:sldId xmlns:r="http://schemas.openxmlformats.org/officeDocument/2006/relationships" id="257" r:id="Rde9461dc08854078"/>
    <p:sldId xmlns:r="http://schemas.openxmlformats.org/officeDocument/2006/relationships" id="258" r:id="R3178597aa7c04fed"/>
    <p:sldId xmlns:r="http://schemas.openxmlformats.org/officeDocument/2006/relationships" id="259" r:id="R90ecdfa1bb874316"/>
    <p:sldId xmlns:r="http://schemas.openxmlformats.org/officeDocument/2006/relationships" id="260" r:id="Re639c705c9534617"/>
    <p:sldId xmlns:r="http://schemas.openxmlformats.org/officeDocument/2006/relationships" id="261" r:id="R5daff060c1ed488b"/>
    <p:sldId xmlns:r="http://schemas.openxmlformats.org/officeDocument/2006/relationships" id="262" r:id="Redc2c9501d164059"/>
    <p:sldId xmlns:r="http://schemas.openxmlformats.org/officeDocument/2006/relationships" id="263" r:id="R7c01443c76fb4033"/>
    <p:sldId xmlns:r="http://schemas.openxmlformats.org/officeDocument/2006/relationships" id="264" r:id="Rbb56af3a6ec34b3c"/>
    <p:sldId xmlns:r="http://schemas.openxmlformats.org/officeDocument/2006/relationships" id="265" r:id="R870aff8d1188428a"/>
    <p:sldId xmlns:r="http://schemas.openxmlformats.org/officeDocument/2006/relationships" id="266" r:id="R836bd86e1e6c4ccd"/>
    <p:sldId xmlns:r="http://schemas.openxmlformats.org/officeDocument/2006/relationships" id="267" r:id="R68bb6ba2cea847af"/>
    <p:sldId xmlns:r="http://schemas.openxmlformats.org/officeDocument/2006/relationships" id="268" r:id="R98ba0e68194341a4"/>
    <p:sldId xmlns:r="http://schemas.openxmlformats.org/officeDocument/2006/relationships" id="269" r:id="Re14b273e1c534e06"/>
    <p:sldId xmlns:r="http://schemas.openxmlformats.org/officeDocument/2006/relationships" id="270" r:id="R84aef9e6b0734034"/>
    <p:sldId xmlns:r="http://schemas.openxmlformats.org/officeDocument/2006/relationships" id="271" r:id="Rbb49d9cffc9d4b47"/>
    <p:sldId xmlns:r="http://schemas.openxmlformats.org/officeDocument/2006/relationships" id="272" r:id="R5521f642992445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37eae6150649ed" /><Relationship Type="http://schemas.openxmlformats.org/officeDocument/2006/relationships/slideMaster" Target="/ppt/slideMasters/slideMaster1.xml" Id="R499ef7b4303f4927" /><Relationship Type="http://schemas.openxmlformats.org/officeDocument/2006/relationships/notesMaster" Target="/ppt/notesMasters/notesMaster1.xml" Id="R22431e67f7624412" /><Relationship Type="http://schemas.openxmlformats.org/officeDocument/2006/relationships/presProps" Target="/ppt/presProps.xml" Id="R9c281b9cea0c4b6f" /><Relationship Type="http://schemas.openxmlformats.org/officeDocument/2006/relationships/viewProps" Target="/ppt/viewProps.xml" Id="R8694c2274f7a4955" /><Relationship Type="http://schemas.openxmlformats.org/officeDocument/2006/relationships/tableStyles" Target="/ppt/tableStyles.xml" Id="R183c903c82074559" /><Relationship Type="http://schemas.openxmlformats.org/officeDocument/2006/relationships/slide" Target="/ppt/slides/slide1.xml" Id="R0a8514523df143c3" /><Relationship Type="http://schemas.openxmlformats.org/officeDocument/2006/relationships/slide" Target="/ppt/slides/slide2.xml" Id="Rde9461dc08854078" /><Relationship Type="http://schemas.openxmlformats.org/officeDocument/2006/relationships/slide" Target="/ppt/slides/slide3.xml" Id="R3178597aa7c04fed" /><Relationship Type="http://schemas.openxmlformats.org/officeDocument/2006/relationships/slide" Target="/ppt/slides/slide4.xml" Id="R90ecdfa1bb874316" /><Relationship Type="http://schemas.openxmlformats.org/officeDocument/2006/relationships/slide" Target="/ppt/slides/slide5.xml" Id="Re639c705c9534617" /><Relationship Type="http://schemas.openxmlformats.org/officeDocument/2006/relationships/slide" Target="/ppt/slides/slide6.xml" Id="R5daff060c1ed488b" /><Relationship Type="http://schemas.openxmlformats.org/officeDocument/2006/relationships/slide" Target="/ppt/slides/slide7.xml" Id="Redc2c9501d164059" /><Relationship Type="http://schemas.openxmlformats.org/officeDocument/2006/relationships/slide" Target="/ppt/slides/slide8.xml" Id="R7c01443c76fb4033" /><Relationship Type="http://schemas.openxmlformats.org/officeDocument/2006/relationships/slide" Target="/ppt/slides/slide9.xml" Id="Rbb56af3a6ec34b3c" /><Relationship Type="http://schemas.openxmlformats.org/officeDocument/2006/relationships/slide" Target="/ppt/slides/slide10.xml" Id="R870aff8d1188428a" /><Relationship Type="http://schemas.openxmlformats.org/officeDocument/2006/relationships/slide" Target="/ppt/slides/slide11.xml" Id="R836bd86e1e6c4ccd" /><Relationship Type="http://schemas.openxmlformats.org/officeDocument/2006/relationships/slide" Target="/ppt/slides/slide12.xml" Id="R68bb6ba2cea847af" /><Relationship Type="http://schemas.openxmlformats.org/officeDocument/2006/relationships/slide" Target="/ppt/slides/slide13.xml" Id="R98ba0e68194341a4" /><Relationship Type="http://schemas.openxmlformats.org/officeDocument/2006/relationships/slide" Target="/ppt/slides/slide14.xml" Id="Re14b273e1c534e06" /><Relationship Type="http://schemas.openxmlformats.org/officeDocument/2006/relationships/slide" Target="/ppt/slides/slide15.xml" Id="R84aef9e6b0734034" /><Relationship Type="http://schemas.openxmlformats.org/officeDocument/2006/relationships/slide" Target="/ppt/slides/slide16.xml" Id="Rbb49d9cffc9d4b47" /><Relationship Type="http://schemas.openxmlformats.org/officeDocument/2006/relationships/slide" Target="/ppt/slides/slide17.xml" Id="R5521f6429924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e0c194a4f844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8a04d746f4680" /><Relationship Type="http://schemas.openxmlformats.org/officeDocument/2006/relationships/notesMaster" Target="/ppt/notesMasters/notesMaster1.xml" Id="R736926590f51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d2d77352e4a90" /><Relationship Type="http://schemas.openxmlformats.org/officeDocument/2006/relationships/notesMaster" Target="/ppt/notesMasters/notesMaster1.xml" Id="R04067ef7585947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3f0a53630144cb" /><Relationship Type="http://schemas.openxmlformats.org/officeDocument/2006/relationships/notesMaster" Target="/ppt/notesMasters/notesMaster1.xml" Id="Re475b1272a35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e8ae7b0eb54ca7" /><Relationship Type="http://schemas.openxmlformats.org/officeDocument/2006/relationships/notesMaster" Target="/ppt/notesMasters/notesMaster1.xml" Id="R66a6896674c947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7f506a43264ddd" /><Relationship Type="http://schemas.openxmlformats.org/officeDocument/2006/relationships/notesMaster" Target="/ppt/notesMasters/notesMaster1.xml" Id="R128b2b25178e42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9b7b47a1eb49a0" /><Relationship Type="http://schemas.openxmlformats.org/officeDocument/2006/relationships/notesMaster" Target="/ppt/notesMasters/notesMaster1.xml" Id="R27fc4ffff7004c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eb8c32165d460f" /><Relationship Type="http://schemas.openxmlformats.org/officeDocument/2006/relationships/notesMaster" Target="/ppt/notesMasters/notesMaster1.xml" Id="Rc803c27bdc1849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8dbd6c06144ab1" /><Relationship Type="http://schemas.openxmlformats.org/officeDocument/2006/relationships/notesMaster" Target="/ppt/notesMasters/notesMaster1.xml" Id="Rc88eca57443f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48d28b38ac41b6" /><Relationship Type="http://schemas.openxmlformats.org/officeDocument/2006/relationships/notesMaster" Target="/ppt/notesMasters/notesMaster1.xml" Id="Ra1d3c19cb27c49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0a340ce9264a20" /><Relationship Type="http://schemas.openxmlformats.org/officeDocument/2006/relationships/notesMaster" Target="/ppt/notesMasters/notesMaster1.xml" Id="Rbce7c5c530fa44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7ada79c3cd495d" /><Relationship Type="http://schemas.openxmlformats.org/officeDocument/2006/relationships/notesMaster" Target="/ppt/notesMasters/notesMaster1.xml" Id="Rf0bac514731a48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67e8ace60246b4" /><Relationship Type="http://schemas.openxmlformats.org/officeDocument/2006/relationships/notesMaster" Target="/ppt/notesMasters/notesMaster1.xml" Id="Rbbdf0545f28b43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e76c6de3ad4ac0" /><Relationship Type="http://schemas.openxmlformats.org/officeDocument/2006/relationships/notesMaster" Target="/ppt/notesMasters/notesMaster1.xml" Id="R1278df26973140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8106e417bc4d88" /><Relationship Type="http://schemas.openxmlformats.org/officeDocument/2006/relationships/notesMaster" Target="/ppt/notesMasters/notesMaster1.xml" Id="R60ffe7e3137945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c167b6efe34650" /><Relationship Type="http://schemas.openxmlformats.org/officeDocument/2006/relationships/notesMaster" Target="/ppt/notesMasters/notesMaster1.xml" Id="Rd513c4cd55b549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ae5949490345af" /><Relationship Type="http://schemas.openxmlformats.org/officeDocument/2006/relationships/notesMaster" Target="/ppt/notesMasters/notesMaster1.xml" Id="Rfb494c8644a547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eb11a37ee64a77" /><Relationship Type="http://schemas.openxmlformats.org/officeDocument/2006/relationships/notesMaster" Target="/ppt/notesMasters/notesMaster1.xml" Id="Ra4304fe49df244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Ecosystem_Map</a:t>
            </a:r>
          </a:p>
          <a:p xmlns:a="http://schemas.openxmlformats.org/drawingml/2006/main">
            <a:r>
              <a:t>- D:\KC PROJECT DOC\QA_Blueprint_Ekosistem_Plant_Lab.xlsx — Budgeting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Ecosystem_Map</a:t>
            </a:r>
          </a:p>
          <a:p xmlns:a="http://schemas.openxmlformats.org/drawingml/2006/main">
            <a:r>
              <a:t>- D:\KC PROJECT DOC\QA_Blueprint_Ekosistem_Plant_Lab.xlsx — Bridge_Contract</a:t>
            </a:r>
          </a:p>
          <a:p xmlns:a="http://schemas.openxmlformats.org/drawingml/2006/main">
            <a:r>
              <a:t>- D:\KC PROJECT DOC\QA_Blueprint_Ekosistem_Plant_Lab.xlsx — Data_Model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E2E_Workflow</a:t>
            </a:r>
          </a:p>
          <a:p xmlns:a="http://schemas.openxmlformats.org/drawingml/2006/main">
            <a:r>
              <a:t>- D:\KC PROJECT DOC\QA_Blueprint_Ekosistem_Plant_Lab.xlsx — Status_Rules</a:t>
            </a:r>
          </a:p>
          <a:p xmlns:a="http://schemas.openxmlformats.org/drawingml/2006/main">
            <a:r>
              <a:t>- D:\KC PROJECT DOC\QA_Blueprint_Ekosistem_Plant_Lab.xlsx — UI_Blueprint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Plant_Process</a:t>
            </a:r>
          </a:p>
          <a:p xmlns:a="http://schemas.openxmlformats.org/drawingml/2006/main">
            <a:r>
              <a:t>- D:\KC PROJECT DOC\QA_Blueprint_Ekosistem_Plant_Lab.xlsx — Plant_Flowchart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Lab_Workflow</a:t>
            </a:r>
          </a:p>
          <a:p xmlns:a="http://schemas.openxmlformats.org/drawingml/2006/main">
            <a:r>
              <a:t>- D:\KC PROJECT DOC\QA_Blueprint_Ekosistem_Plant_Lab.xlsx — Lab_Flowchart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Bridge_Contract</a:t>
            </a:r>
          </a:p>
          <a:p xmlns:a="http://schemas.openxmlformats.org/drawingml/2006/main">
            <a:r>
              <a:t>- D:\KC PROJECT DOC\QA_Blueprint_Ekosistem_Plant_Lab.xlsx — Status_Rules</a:t>
            </a:r>
          </a:p>
          <a:p xmlns:a="http://schemas.openxmlformats.org/drawingml/2006/main">
            <a:r>
              <a:t>- D:\KC PROJECT DOC\QA_Blueprint_Ekosistem_Plant_Lab.xlsx — Data_Model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Screen_Register</a:t>
            </a:r>
          </a:p>
          <a:p xmlns:a="http://schemas.openxmlformats.org/drawingml/2006/main">
            <a:r>
              <a:t>- D:\KC PROJECT DOC\QA_Blueprint_Ekosistem_Plant_Lab.xlsx — Role_Access</a:t>
            </a:r>
          </a:p>
          <a:p xmlns:a="http://schemas.openxmlformats.org/drawingml/2006/main">
            <a:r>
              <a:t>- D:\KC PROJECT DOC\QA_Blueprint_Ekosistem_Plant_Lab.xlsx — UI_Blueprint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Dashboard_KPI</a:t>
            </a:r>
          </a:p>
          <a:p xmlns:a="http://schemas.openxmlformats.org/drawingml/2006/main">
            <a:r>
              <a:t>- D:\KC PROJECT DOC\QA_Blueprint_Ekosistem_Plant_Lab.xlsx — Status_Rules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[Assumption]</a:t>
            </a:r>
          </a:p>
          <a:p xmlns:a="http://schemas.openxmlformats.org/drawingml/2006/main">
            <a:r>
              <a:t>Delivery 4 minggu memerlukan build paralel, keputusan harian, field/API lock Day 1–2, dan slot UAT tersedia pada W4.</a:t>
            </a:r>
          </a:p>
          <a:p xmlns:a="http://schemas.openxmlformats.org/drawingml/2006/main">
            <a:r>
              <a:t>[/Assumption]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Implementation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Calculation: Plant 110+20=130; Lab/SPL 85+20=105; total 235; reference efficiency 336-235=101; reserve 250-235=15 (Rp juta).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Budgeting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Plant standalone core line items: 8 + 22 + 38 + 16 + 14 + 7 + 5 = Rp110 juta. Plant bridge allocation is Rp20 juta.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Budgeting!A15:K25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Lab/SPL standalone core line items: 6 + 18 + 20 + 20 + 11 + 6 + 4 = Rp85 juta. Lab bridge allocation is Rp20 juta.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Budgeting!A26:K36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Bridge allocation per project: connector API 8 + portal role mapping 5 + sync/error handling 4 + global KPI contribution 3 = Rp20 juta.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Budgeting!A22:K25</a:t>
            </a:r>
          </a:p>
          <a:p xmlns:a="http://schemas.openxmlformats.org/drawingml/2006/main">
            <a:r>
              <a:t>- D:\KC PROJECT DOC\QA_Blueprint_Ekosistem_Plant_Lab.xlsx — Budgeting!A33:K36</a:t>
            </a:r>
          </a:p>
          <a:p xmlns:a="http://schemas.openxmlformats.org/drawingml/2006/main">
            <a:r>
              <a:t>- D:\KC PROJECT DOC\QA_Blueprint_Ekosistem_Plant_Lab.xlsx — Bridge_Contract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 amounts: Plant Rp130 juta = Rp52 juta (40%) + Rp52 juta (40%) + Rp26 juta (20%); Lab/SPL Rp105 juta = Rp42 juta + Rp42 juta + Rp21 juta; combined Rp235 juta = Rp94 juta + Rp94 juta + Rp47 juta.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Budgeting!A39:F44</a:t>
            </a:r>
          </a:p>
          <a:p xmlns:a="http://schemas.openxmlformats.org/drawingml/2006/main">
            <a:r>
              <a:t>- User-directed payment terms: 40% start, 40% progress ≥50%, 20% finish.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Decision_Log</a:t>
            </a:r>
          </a:p>
          <a:p xmlns:a="http://schemas.openxmlformats.org/drawingml/2006/main">
            <a:r>
              <a:t>- D:\KC PROJECT DOC\QA_Blueprint_Ekosistem_Plant_Lab.xlsx — UAT_Checklist</a:t>
            </a:r>
          </a:p>
          <a:p xmlns:a="http://schemas.openxmlformats.org/drawingml/2006/main">
            <a:r>
              <a:t>- D:\KC PROJECT DOC\QA_Blueprint_Ekosistem_Plant_Lab.xlsx — Field_Dictionary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[Assumption]</a:t>
            </a:r>
          </a:p>
          <a:p xmlns:a="http://schemas.openxmlformats.org/drawingml/2006/main">
            <a:r>
              <a:t>Accelerated delivery is contingent on Day 1–2 decision lock and parallel Plant/Lab/bridge execution.</a:t>
            </a:r>
          </a:p>
          <a:p xmlns:a="http://schemas.openxmlformats.org/drawingml/2006/main">
            <a:r>
              <a:t>[/Assumption]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Implementation</a:t>
            </a:r>
          </a:p>
          <a:p xmlns:a="http://schemas.openxmlformats.org/drawingml/2006/main">
            <a:r>
              <a:t>- D:\KC PROJECT DOC\QA_Blueprint_Ekosistem_Plant_Lab.xlsx — Decision_Log</a:t>
            </a:r>
          </a:p>
          <a:p xmlns:a="http://schemas.openxmlformats.org/drawingml/2006/main">
            <a:r>
              <a:t>- D:\KC PROJECT DOC\QA_Blueprint_Ekosistem_Plant_Lab.xlsx — Budgeting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b58f5726148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1509447474173" /><Relationship Type="http://schemas.openxmlformats.org/officeDocument/2006/relationships/image" Target="/ppt/media/image.png" Id="R08f70ae053544f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f2f49132b4b13" /><Relationship Type="http://schemas.openxmlformats.org/officeDocument/2006/relationships/image" Target="/ppt/media/image2.png" Id="R77a9490f83844115" /><Relationship Type="http://schemas.openxmlformats.org/officeDocument/2006/relationships/image" Target="/ppt/media/image3.png" Id="R34b3693efbfd4eb8" /><Relationship Type="http://schemas.openxmlformats.org/officeDocument/2006/relationships/image" Target="/ppt/media/image.jpeg" Id="R047aaefbbc14484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095587E-F276-D043-9665-50412CE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14714A2-604E-6D46-B0EE-14B15690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15124"/>
            <a:ext cx="12192000" cy="1428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3A438"/>
              </a:gs>
              <a:gs pos="100000">
                <a:srgbClr val="102D69"/>
              </a:gs>
            </a:gsLst>
            <a:lin ang="7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70ae05354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98175" y="175746"/>
            <a:ext cx="1098550" cy="972487"/>
          </a:xfrm>
          <a:prstGeom xmlns:a="http://schemas.openxmlformats.org/drawingml/2006/main" prst="rect">
            <a:avLst/>
          </a:prstGeom>
        </p:spPr>
      </p:pic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9A012041-A659-7049-98DC-8C5AF7C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" y="30861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normAutofit fontScale="2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1_Diseño personalizado">
    <p:bg>
      <p:bgPr>
        <a:gradFill xmlns:a="http://schemas.openxmlformats.org/drawingml/2006/main">
          <a:gsLst>
            <a:gs pos="0">
              <a:srgbClr val="1860AA"/>
            </a:gs>
            <a:gs pos="55000">
              <a:srgbClr val="102D69"/>
            </a:gs>
            <a:gs pos="100000">
              <a:srgbClr val="0C1B49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490f83844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8924" y="-192083"/>
            <a:ext cx="4097493" cy="2900363"/>
          </a:xfrm>
          <a:prstGeom xmlns:a="http://schemas.openxmlformats.org/drawingml/2006/main" prst="rect">
            <a:avLst/>
          </a:prstGeom>
        </p:spPr>
      </p:pic>
      <p:pic>
        <p:nvPicPr>
          <p:cNvPr id="5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3693efbfd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337" y="6572250"/>
            <a:ext cx="1869440" cy="438150"/>
          </a:xfrm>
          <a:prstGeom xmlns:a="http://schemas.openxmlformats.org/drawingml/2006/main" prst="rect">
            <a:avLst/>
          </a:prstGeom>
        </p:spPr>
      </p:pic>
      <p:pic>
        <p:nvPicPr>
          <p:cNvPr id="6" name="Picture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7aaefbbc14484c">
            <a:clrChange>
              <a:clrFrom>
                <a:srgbClr val="155094"/>
              </a:clrFrom>
              <a:clrTo>
                <a:srgbClr val="155094">
                  <a:alpha val="0"/>
                </a:srgbClr>
              </a:clrTo>
            </a:clrChange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84126" y="0"/>
            <a:ext cx="5286251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5032c27104b0f" /><Relationship Type="http://schemas.openxmlformats.org/officeDocument/2006/relationships/slideLayout" Target="/ppt/slideLayouts/slideLayout1.xml" Id="R9f73c0d7a9564161" /><Relationship Type="http://schemas.openxmlformats.org/officeDocument/2006/relationships/slideLayout" Target="/ppt/slideLayouts/slideLayout2.xml" Id="R63e8c5c647f34c17" /><Relationship Type="http://schemas.openxmlformats.org/officeDocument/2006/relationships/slideLayout" Target="/ppt/slideLayouts/slideLayout3.xml" Id="R2d21623a0afe46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3c0d7a9564161"/>
    <p:sldLayoutId xmlns:r="http://schemas.openxmlformats.org/officeDocument/2006/relationships" id="2147483650" r:id="R63e8c5c647f34c17"/>
    <p:sldLayoutId xmlns:r="http://schemas.openxmlformats.org/officeDocument/2006/relationships" id="2147483651" r:id="R2d21623a0afe46d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9afd9f47025455f" /><Relationship Type="http://schemas.openxmlformats.org/officeDocument/2006/relationships/notesSlide" Target="/ppt/notesSlides/notesSlide1.xml" Id="Raaa719794a3f44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edebec66d24819" /><Relationship Type="http://schemas.openxmlformats.org/officeDocument/2006/relationships/notesSlide" Target="/ppt/notesSlides/notesSlide2.xml" Id="R08f3f85763b940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03c585d99a44fa" /><Relationship Type="http://schemas.openxmlformats.org/officeDocument/2006/relationships/notesSlide" Target="/ppt/notesSlides/notesSlide3.xml" Id="R36442442210d45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c1d7da438413c" /><Relationship Type="http://schemas.openxmlformats.org/officeDocument/2006/relationships/notesSlide" Target="/ppt/notesSlides/notesSlide4.xml" Id="R949816fd5a5d46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9f302c71c4c21" /><Relationship Type="http://schemas.openxmlformats.org/officeDocument/2006/relationships/notesSlide" Target="/ppt/notesSlides/notesSlide5.xml" Id="Rf7a2cfa8cb7840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7bbf5c21840e1" /><Relationship Type="http://schemas.openxmlformats.org/officeDocument/2006/relationships/notesSlide" Target="/ppt/notesSlides/notesSlide6.xml" Id="Rafeb8ad72a044a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c8f3ba910d4800" /><Relationship Type="http://schemas.openxmlformats.org/officeDocument/2006/relationships/notesSlide" Target="/ppt/notesSlides/notesSlide7.xml" Id="R047dc2c453194e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0d68f8f26409d" /><Relationship Type="http://schemas.openxmlformats.org/officeDocument/2006/relationships/notesSlide" Target="/ppt/notesSlides/notesSlide8.xml" Id="Rde65e4c47a294b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7ce3442b084bb4" /><Relationship Type="http://schemas.openxmlformats.org/officeDocument/2006/relationships/notesSlide" Target="/ppt/notesSlides/notesSlide9.xml" Id="Rac33e1e0c6f947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8792a87494807" /><Relationship Type="http://schemas.openxmlformats.org/officeDocument/2006/relationships/notesSlide" Target="/ppt/notesSlides/notesSlide10.xml" Id="R7d0d083f68a447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daabc81cdb4ae4" /><Relationship Type="http://schemas.openxmlformats.org/officeDocument/2006/relationships/notesSlide" Target="/ppt/notesSlides/notesSlide11.xml" Id="R125cfabfcf5a42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bc84cfa8904c67" /><Relationship Type="http://schemas.openxmlformats.org/officeDocument/2006/relationships/notesSlide" Target="/ppt/notesSlides/notesSlide12.xml" Id="R43422299502447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d049507ba94669" /><Relationship Type="http://schemas.openxmlformats.org/officeDocument/2006/relationships/notesSlide" Target="/ppt/notesSlides/notesSlide13.xml" Id="Rc7f13685dee644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248dedbb743a1" /><Relationship Type="http://schemas.openxmlformats.org/officeDocument/2006/relationships/notesSlide" Target="/ppt/notesSlides/notesSlide14.xml" Id="R9ce249591a834b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1a076cdbc543cc" /><Relationship Type="http://schemas.openxmlformats.org/officeDocument/2006/relationships/notesSlide" Target="/ppt/notesSlides/notesSlide15.xml" Id="Rb69a911ae12542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f1dc2c7184f11" /><Relationship Type="http://schemas.openxmlformats.org/officeDocument/2006/relationships/notesSlide" Target="/ppt/notesSlides/notesSlide16.xml" Id="R2b1826a8b60f45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d1f28797814b26" /><Relationship Type="http://schemas.openxmlformats.org/officeDocument/2006/relationships/notesSlide" Target="/ppt/notesSlides/notesSlide17.xml" Id="R6e54326e23fa4f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2">
            <a:extLst xmlns:a="http://schemas.openxmlformats.org/drawingml/2006/main">
              <a:ext uri="{FF2B5EF4-FFF2-40B4-BE49-F238E27FC236}">
                <a16:creationId xmlns:a16="http://schemas.microsoft.com/office/drawing/2014/main" id="{7C6AA521-553C-4115-9681-19920FF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63731"/>
            <a:ext cx="7001121" cy="20272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4000"/>
              <a:t>Proposal Digitalisasi KrosCek
QA Plant + Lab/SPL</a:t>
            </a:r>
          </a:p>
        </p:txBody>
      </p:sp>
      <p:sp>
        <p:nvSpPr>
          <p:cNvPr id="6" name="Title 2">
            <a:extLst xmlns:a="http://schemas.openxmlformats.org/drawingml/2006/main">
              <a:ext uri="{FF2B5EF4-FFF2-40B4-BE49-F238E27FC236}">
                <a16:creationId xmlns:a16="http://schemas.microsoft.com/office/drawing/2014/main" id="{96D9B609-E419-CCE7-2E09-1EBD4B4C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964864"/>
            <a:ext cx="6120809" cy="7690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800"/>
              <a:t>Workflow terintegrasi, quotation Rp235 juta, dan delivery intensif 4 minggu</a:t>
            </a:r>
          </a:p>
        </p:txBody>
      </p:sp>
    </p:spTree>
    <p:extLst>
      <p:ext uri="{BB962C8B-B14F-4D97-AF65-F5344CB8AC3E}">
        <p14:creationId xmlns:p14="http://schemas.microsoft.com/office/powerpoint/2010/main" val="42727495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102603CF-2177-F197-A257-CB20676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E2A47"/>
                </a:solidFill>
              </a:rPr>
              <a:t>Proposal Ekosistem QA Plant + Lab/SPL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D19B1626-649A-E793-A7B7-0CC9F2D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Dua aplikasi mandiri, satu bridge terkontrol, dan portal global untuk visibilitas end-to-end.</a:t>
            </a:r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16738318-7773-4C93-E859-6CD7F25B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35178"/>
            <a:ext cx="6217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01828"/>
                </a:solidFill>
              </a:rPr>
              <a:t>Blueprint siap diputuskan: scope MVP, workflow, roadmap, dan investasi telah dirinci.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30B3ABE-A65C-D5C8-B7F2-3DAED811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75144"/>
            <a:ext cx="14630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4DF059-C39D-193E-F6DB-B7F5653A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48296"/>
            <a:ext cx="131673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QA Plant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4C40E7B-783D-EAF2-9587-663B8D75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3175144"/>
            <a:ext cx="12801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CD18085-94D6-64FE-C270-71A09E0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248296"/>
            <a:ext cx="11338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Lab / SPL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F12323B-7E0D-3F86-2CE7-EFE555A2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3175144"/>
            <a:ext cx="13258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1ED480-153A-A30A-AECF-6A1419DF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48296"/>
            <a:ext cx="11795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Bridge + Portal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C9D0BDC-90AA-38C0-48A2-05D5F437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389888"/>
            <a:ext cx="3383280" cy="416052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B6D046A-2344-1EA3-99F8-B9AA9C9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1537092"/>
            <a:ext cx="1792224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5E3EFF-CE6B-03A9-3742-C0CD067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65596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QA Plant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318B26-0AA5-9761-13A6-79E1062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916568"/>
            <a:ext cx="160934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Inspeksi • MC/PP • sampling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0EEB970-AF26-5C50-0F46-7C2C31B6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6880" y="2366228"/>
            <a:ext cx="594360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5F67DAD-4AFF-E0C2-F37A-F37D2D54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927003"/>
            <a:ext cx="1792224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DF4E7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F5715F-7579-00D8-410D-BE0E2B7E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045875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Integration Bridge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F7CB77-CDE1-FF4A-0672-DEF0B501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274475"/>
            <a:ext cx="16093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Shared ID • event • retry • log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25886AF-B070-DDA2-97E5-BA02B64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9740" y="3820575"/>
            <a:ext cx="594360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0F6F8D9-60C0-A280-3E36-C32113E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300635"/>
            <a:ext cx="1792224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78BF5A5-2F9E-293E-C2FF-A6D98123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419507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/ SPL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70EDA37-E0FF-67E1-F5AD-579A39FE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4672906"/>
            <a:ext cx="16093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Request • testing • approval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F834ABC-F812-D839-D8A7-F67FA7F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06" y="5125212"/>
            <a:ext cx="22312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A47"/>
                </a:solidFill>
              </a:rPr>
              <a:t>4 minggu • Rp235 juta MVP</a:t>
            </a:r>
          </a:p>
        </p:txBody>
      </p:sp>
    </p:spTree>
    <p:extLst>
      <p:ext uri="{BB962C8B-B14F-4D97-AF65-F5344CB8AC3E}">
        <p14:creationId xmlns:p14="http://schemas.microsoft.com/office/powerpoint/2010/main" val="1807658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Arsitektur modular menjaga independensi Plant dan Lab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Masing-masing aplikasi memiliki release dan database sendiri; bridge hanya menukar data yang disepakati.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1. Plant tetap mandiri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Web + PWA untuk inspection, process plan, MC/PP, sampling, dashboard, dan export.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2. Bridge mengontrol integrasi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Shared key, kontrak API, queue/retry, idempotency, sync log, dan error monitor.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3. Lab/SPL tetap mandiri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Web + mobile web/PWA untuk request, receipt, testing, review, approval, dan report.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Alur data yang disepakati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QA Plant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Lot/Sample ID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Inspection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Source result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Bridge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Contract API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Queue/retry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Sync log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/ SPL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Request/receipt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Test/approval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Final result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Global Portal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Module launcher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Global KPI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Role context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1CE3DE7-403B-D113-BE6D-AF48702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Target operating model menjaga database tetap mandiri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A30A921-4686-BE01-89A1-17CCF05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Perubahan utama ada pada kontrol transaksi, handoff, monitoring, dan audit trail.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F791B99B-248C-B790-C04F-DE02D48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81" y="1457966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Dari file dan handoff manual menuju workflow modular</a:t>
            </a:r>
          </a:p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yang terhubung, terlacak, dan dapat diaudit.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B242B306-636D-F9AF-4D68-3ED094B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B42318"/>
                </a:solidFill>
              </a:rPr>
              <a:t>Kondisi saat ini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A8133414-3079-4241-0615-3D8EC0C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8B57"/>
                </a:solidFill>
              </a:rPr>
              <a:t>Target MVP</a:t>
            </a:r>
          </a:p>
        </p:txBody>
      </p:sp>
      <p:sp>
        <p:nvSpPr>
          <p:cNvPr id="8" name="Shape 7">
            <a:extLst xmlns:a="http://schemas.openxmlformats.org/drawingml/2006/main">
              <a:ext uri="{FF2B5EF4-FFF2-40B4-BE49-F238E27FC236}">
                <a16:creationId xmlns:a16="http://schemas.microsoft.com/office/drawing/2014/main" id="{92411E75-D47B-AA4B-6BB0-4CBB70AA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8227"/>
            <a:ext cx="960120" cy="5943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8">
            <a:extLst xmlns:a="http://schemas.openxmlformats.org/drawingml/2006/main">
              <a:ext uri="{FF2B5EF4-FFF2-40B4-BE49-F238E27FC236}">
                <a16:creationId xmlns:a16="http://schemas.microsoft.com/office/drawing/2014/main" id="{3956D000-6EE1-B455-9DCD-548FB19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5AD30E27-132D-B95A-8D18-C6922618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64A7651B-E4A2-3D2A-9DA3-87BC3CD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10267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Eksekusi proses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136F959E-600C-E1AA-3960-9146869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271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File terpisah; status sulit dilacak</a:t>
            </a:r>
          </a:p>
        </p:txBody>
      </p:sp>
      <p:sp>
        <p:nvSpPr>
          <p:cNvPr id="13" name="Shape 12">
            <a:extLst xmlns:a="http://schemas.openxmlformats.org/drawingml/2006/main">
              <a:ext uri="{FF2B5EF4-FFF2-40B4-BE49-F238E27FC236}">
                <a16:creationId xmlns:a16="http://schemas.microsoft.com/office/drawing/2014/main" id="{5C47ABFB-FD54-4E35-C81B-FC1EB7D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4FF565D7-ADC3-1926-1E98-A9B9078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4AAF3505-40B2-9619-3973-782986A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0267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Eksekusi proses</a:t>
            </a:r>
          </a:p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C152B318-E312-E8DB-F0FB-359CFA2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42271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Task inbox + status per transaksi</a:t>
            </a:r>
          </a:p>
        </p:txBody>
      </p:sp>
      <p:sp>
        <p:nvSpPr>
          <p:cNvPr id="17" name="Shape 16">
            <a:extLst xmlns:a="http://schemas.openxmlformats.org/drawingml/2006/main">
              <a:ext uri="{FF2B5EF4-FFF2-40B4-BE49-F238E27FC236}">
                <a16:creationId xmlns:a16="http://schemas.microsoft.com/office/drawing/2014/main" id="{5EA6D429-777C-6F7C-E77F-5F08101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9E16CB97-DCF0-F556-6F42-0F5BAFB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8">
            <a:extLst xmlns:a="http://schemas.openxmlformats.org/drawingml/2006/main">
              <a:ext uri="{FF2B5EF4-FFF2-40B4-BE49-F238E27FC236}">
                <a16:creationId xmlns:a16="http://schemas.microsoft.com/office/drawing/2014/main" id="{12A4046C-7434-29E9-2D9D-E4D9880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135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Data handoff</a:t>
            </a:r>
          </a:p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ADC44757-B9A3-3BD5-BED5-840C565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29139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Input ulang antara Plant dan Lab</a:t>
            </a:r>
          </a:p>
        </p:txBody>
      </p:sp>
      <p:sp>
        <p:nvSpPr>
          <p:cNvPr id="21" name="Shape 20">
            <a:extLst xmlns:a="http://schemas.openxmlformats.org/drawingml/2006/main">
              <a:ext uri="{FF2B5EF4-FFF2-40B4-BE49-F238E27FC236}">
                <a16:creationId xmlns:a16="http://schemas.microsoft.com/office/drawing/2014/main" id="{AE58B5AC-09BC-DEFC-128C-884CE24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5A0B1790-7C0C-098E-7B91-F0396A03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15A6C6E1-5DD8-BB2C-399B-F04630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7135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Data handoff</a:t>
            </a:r>
          </a:p>
        </p:txBody>
      </p:sp>
      <p:sp>
        <p:nvSpPr>
          <p:cNvPr id="24" name="Text 23">
            <a:extLst xmlns:a="http://schemas.openxmlformats.org/drawingml/2006/main">
              <a:ext uri="{FF2B5EF4-FFF2-40B4-BE49-F238E27FC236}">
                <a16:creationId xmlns:a16="http://schemas.microsoft.com/office/drawing/2014/main" id="{A65F53EA-8621-782B-5129-C6C3F35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29139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Shared key + event bridge; DB tetap mandiri</a:t>
            </a:r>
          </a:p>
        </p:txBody>
      </p:sp>
      <p:sp>
        <p:nvSpPr>
          <p:cNvPr id="25" name="Shape 24">
            <a:extLst xmlns:a="http://schemas.openxmlformats.org/drawingml/2006/main">
              <a:ext uri="{FF2B5EF4-FFF2-40B4-BE49-F238E27FC236}">
                <a16:creationId xmlns:a16="http://schemas.microsoft.com/office/drawing/2014/main" id="{8F8DF317-D9C6-D8CF-1720-5A98C4E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99A4A516-47E5-A5B5-DD45-351E8C2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9DD59027-863A-D9FB-E615-0F1268E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84003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Exception control</a:t>
            </a:r>
          </a:p>
        </p:txBody>
      </p:sp>
      <p:sp>
        <p:nvSpPr>
          <p:cNvPr id="28" name="Text 27">
            <a:extLst xmlns:a="http://schemas.openxmlformats.org/drawingml/2006/main">
              <a:ext uri="{FF2B5EF4-FFF2-40B4-BE49-F238E27FC236}">
                <a16:creationId xmlns:a16="http://schemas.microsoft.com/office/drawing/2014/main" id="{C576D26E-E2C0-CAB7-1B14-0B5B111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6007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OOS/retest terlambat terlihat</a:t>
            </a:r>
          </a:p>
        </p:txBody>
      </p:sp>
      <p:sp>
        <p:nvSpPr>
          <p:cNvPr id="29" name="Shape 28">
            <a:extLst xmlns:a="http://schemas.openxmlformats.org/drawingml/2006/main">
              <a:ext uri="{FF2B5EF4-FFF2-40B4-BE49-F238E27FC236}">
                <a16:creationId xmlns:a16="http://schemas.microsoft.com/office/drawing/2014/main" id="{D5745726-FDEF-2CE9-CE52-ED73CA9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39A9F4C-6997-70AE-29D0-73E433A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D514EB64-1271-28F0-7F89-2D926AF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84003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Exception control</a:t>
            </a:r>
          </a:p>
        </p:txBody>
      </p:sp>
      <p:sp>
        <p:nvSpPr>
          <p:cNvPr id="32" name="Text 31">
            <a:extLst xmlns:a="http://schemas.openxmlformats.org/drawingml/2006/main">
              <a:ext uri="{FF2B5EF4-FFF2-40B4-BE49-F238E27FC236}">
                <a16:creationId xmlns:a16="http://schemas.microsoft.com/office/drawing/2014/main" id="{7C067BC7-FF0F-2455-FB12-1AEA0B1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16007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Alert, aging, retry, revision loop</a:t>
            </a:r>
          </a:p>
        </p:txBody>
      </p:sp>
      <p:sp>
        <p:nvSpPr>
          <p:cNvPr id="33" name="Shape 32">
            <a:extLst xmlns:a="http://schemas.openxmlformats.org/drawingml/2006/main">
              <a:ext uri="{FF2B5EF4-FFF2-40B4-BE49-F238E27FC236}">
                <a16:creationId xmlns:a16="http://schemas.microsoft.com/office/drawing/2014/main" id="{C111B136-F609-A2B1-55ED-52BB3D1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3">
            <a:extLst xmlns:a="http://schemas.openxmlformats.org/drawingml/2006/main">
              <a:ext uri="{FF2B5EF4-FFF2-40B4-BE49-F238E27FC236}">
                <a16:creationId xmlns:a16="http://schemas.microsoft.com/office/drawing/2014/main" id="{47D07F1B-6AB6-FECD-3D2D-0356B3E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4">
            <a:extLst xmlns:a="http://schemas.openxmlformats.org/drawingml/2006/main">
              <a:ext uri="{FF2B5EF4-FFF2-40B4-BE49-F238E27FC236}">
                <a16:creationId xmlns:a16="http://schemas.microsoft.com/office/drawing/2014/main" id="{1B9ABF14-C5AB-6C6F-9FD7-ABE9D6A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70871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Reporting &amp; audit</a:t>
            </a:r>
          </a:p>
        </p:txBody>
      </p:sp>
      <p:sp>
        <p:nvSpPr>
          <p:cNvPr id="36" name="Text 35">
            <a:extLst xmlns:a="http://schemas.openxmlformats.org/drawingml/2006/main">
              <a:ext uri="{FF2B5EF4-FFF2-40B4-BE49-F238E27FC236}">
                <a16:creationId xmlns:a16="http://schemas.microsoft.com/office/drawing/2014/main" id="{DA1816A7-4563-E541-69B2-34500F8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602875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Kompilasi manual; evidence tersebar</a:t>
            </a:r>
          </a:p>
        </p:txBody>
      </p:sp>
      <p:sp>
        <p:nvSpPr>
          <p:cNvPr id="37" name="Shape 36">
            <a:extLst xmlns:a="http://schemas.openxmlformats.org/drawingml/2006/main">
              <a:ext uri="{FF2B5EF4-FFF2-40B4-BE49-F238E27FC236}">
                <a16:creationId xmlns:a16="http://schemas.microsoft.com/office/drawing/2014/main" id="{B2B4932E-D335-D19E-F8A3-4D7D4CB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7">
            <a:extLst xmlns:a="http://schemas.openxmlformats.org/drawingml/2006/main">
              <a:ext uri="{FF2B5EF4-FFF2-40B4-BE49-F238E27FC236}">
                <a16:creationId xmlns:a16="http://schemas.microsoft.com/office/drawing/2014/main" id="{FD097648-EE19-9C79-715F-0E49F1A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8">
            <a:extLst xmlns:a="http://schemas.openxmlformats.org/drawingml/2006/main">
              <a:ext uri="{FF2B5EF4-FFF2-40B4-BE49-F238E27FC236}">
                <a16:creationId xmlns:a16="http://schemas.microsoft.com/office/drawing/2014/main" id="{C0DB04F0-C4CC-21DC-AA48-0E027F9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70871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Reporting &amp; audit</a:t>
            </a:r>
          </a:p>
        </p:txBody>
      </p:sp>
      <p:sp>
        <p:nvSpPr>
          <p:cNvPr id="40" name="Text 39">
            <a:extLst xmlns:a="http://schemas.openxmlformats.org/drawingml/2006/main">
              <a:ext uri="{FF2B5EF4-FFF2-40B4-BE49-F238E27FC236}">
                <a16:creationId xmlns:a16="http://schemas.microsoft.com/office/drawing/2014/main" id="{3EA7CCCC-A5B3-C418-4D53-099DED2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602875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Dashboard, export, dan audit trail</a:t>
            </a:r>
          </a:p>
        </p:txBody>
      </p:sp>
      <p:sp>
        <p:nvSpPr>
          <p:cNvPr id="41" name="Text 40">
            <a:extLst xmlns:a="http://schemas.openxmlformats.org/drawingml/2006/main">
              <a:ext uri="{FF2B5EF4-FFF2-40B4-BE49-F238E27FC236}">
                <a16:creationId xmlns:a16="http://schemas.microsoft.com/office/drawing/2014/main" id="{9D24DC5C-47ED-3192-36CD-6B52C62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46520"/>
            <a:ext cx="228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052539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60AE24EC-63B5-DBD1-81F3-EBADAC56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QA Plant: dari Lot hingga sample siap diuji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928FFAE-137F-B6BA-818F-B62B6051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Mobile/PWA memandu eksekusi; web menangani planning, review, dashboard, dan export.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DA3AEF4D-347F-32B2-E024-3E6D68DD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6" y="1860642"/>
            <a:ext cx="10972800" cy="570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Plant App mengendalikan dua mode inspeksi, source testing, sampling,
dan exception loop dengan evidence serta audit trail.</a:t>
            </a:r>
          </a:p>
        </p:txBody>
      </p:sp>
      <p:sp>
        <p:nvSpPr>
          <p:cNvPr id="6" name="Shape 12">
            <a:extLst xmlns:a="http://schemas.openxmlformats.org/drawingml/2006/main">
              <a:ext uri="{FF2B5EF4-FFF2-40B4-BE49-F238E27FC236}">
                <a16:creationId xmlns:a16="http://schemas.microsoft.com/office/drawing/2014/main" id="{BD64B975-24A8-356F-3EFD-8D29A40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501" y="3185257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13">
            <a:extLst xmlns:a="http://schemas.openxmlformats.org/drawingml/2006/main">
              <a:ext uri="{FF2B5EF4-FFF2-40B4-BE49-F238E27FC236}">
                <a16:creationId xmlns:a16="http://schemas.microsoft.com/office/drawing/2014/main" id="{89B73970-D4C4-B5C0-7F92-D40DC7F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5653" y="3304129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Direct Inspection</a:t>
            </a:r>
          </a:p>
        </p:txBody>
      </p:sp>
      <p:sp>
        <p:nvSpPr>
          <p:cNvPr id="8" name="Text 14">
            <a:extLst xmlns:a="http://schemas.openxmlformats.org/drawingml/2006/main">
              <a:ext uri="{FF2B5EF4-FFF2-40B4-BE49-F238E27FC236}">
                <a16:creationId xmlns:a16="http://schemas.microsoft.com/office/drawing/2014/main" id="{4BC7F62D-A469-688C-27CA-4ECF5D65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3941" y="3532729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Receiving • Intake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full form</a:t>
            </a:r>
          </a:p>
        </p:txBody>
      </p:sp>
      <p:sp>
        <p:nvSpPr>
          <p:cNvPr id="10" name="Shape 15">
            <a:extLst xmlns:a="http://schemas.openxmlformats.org/drawingml/2006/main">
              <a:ext uri="{FF2B5EF4-FFF2-40B4-BE49-F238E27FC236}">
                <a16:creationId xmlns:a16="http://schemas.microsoft.com/office/drawing/2014/main" id="{2BD1F827-B3C6-3D7C-2FF8-07176CF6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3679" y="3190059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chemeClr val="accent1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6">
            <a:extLst xmlns:a="http://schemas.openxmlformats.org/drawingml/2006/main">
              <a:ext uri="{FF2B5EF4-FFF2-40B4-BE49-F238E27FC236}">
                <a16:creationId xmlns:a16="http://schemas.microsoft.com/office/drawing/2014/main" id="{17468E3B-423B-5E8C-AE61-06776896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6831" y="3308931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Process Plan</a:t>
            </a:r>
          </a:p>
        </p:txBody>
      </p:sp>
      <p:sp>
        <p:nvSpPr>
          <p:cNvPr id="12" name="Text 17">
            <a:extLst xmlns:a="http://schemas.openxmlformats.org/drawingml/2006/main">
              <a:ext uri="{FF2B5EF4-FFF2-40B4-BE49-F238E27FC236}">
                <a16:creationId xmlns:a16="http://schemas.microsoft.com/office/drawing/2014/main" id="{200EE3B1-6155-DE89-64E9-70314FD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5119" y="3537531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Drier → Packing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schedule</a:t>
            </a: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749B8BA-666C-E13A-B24A-594B42E1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3599" y="3076627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8">
            <a:extLst xmlns:a="http://schemas.openxmlformats.org/drawingml/2006/main">
              <a:ext uri="{FF2B5EF4-FFF2-40B4-BE49-F238E27FC236}">
                <a16:creationId xmlns:a16="http://schemas.microsoft.com/office/drawing/2014/main" id="{9917B6D9-7C37-B79B-1E1B-0BC2A810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6043" y="3189490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9">
            <a:extLst xmlns:a="http://schemas.openxmlformats.org/drawingml/2006/main">
              <a:ext uri="{FF2B5EF4-FFF2-40B4-BE49-F238E27FC236}">
                <a16:creationId xmlns:a16="http://schemas.microsoft.com/office/drawing/2014/main" id="{2F39A6BF-95A8-A619-D9A9-06A04FE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9195" y="3308362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Lot-based Check</a:t>
            </a:r>
          </a:p>
        </p:txBody>
      </p:sp>
      <p:sp>
        <p:nvSpPr>
          <p:cNvPr id="17" name="Text 20">
            <a:extLst xmlns:a="http://schemas.openxmlformats.org/drawingml/2006/main">
              <a:ext uri="{FF2B5EF4-FFF2-40B4-BE49-F238E27FC236}">
                <a16:creationId xmlns:a16="http://schemas.microsoft.com/office/drawing/2014/main" id="{FF838320-5F81-5032-72E7-C3166F58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7483" y="3536962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Auto identity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process form</a:t>
            </a:r>
          </a:p>
        </p:txBody>
      </p:sp>
      <p:sp>
        <p:nvSpPr>
          <p:cNvPr id="19" name="Shape 21">
            <a:extLst xmlns:a="http://schemas.openxmlformats.org/drawingml/2006/main">
              <a:ext uri="{FF2B5EF4-FFF2-40B4-BE49-F238E27FC236}">
                <a16:creationId xmlns:a16="http://schemas.microsoft.com/office/drawing/2014/main" id="{B45ED1D9-35D6-DF04-0761-C030AB5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4857" y="3188286"/>
            <a:ext cx="146304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22">
            <a:extLst xmlns:a="http://schemas.openxmlformats.org/drawingml/2006/main">
              <a:ext uri="{FF2B5EF4-FFF2-40B4-BE49-F238E27FC236}">
                <a16:creationId xmlns:a16="http://schemas.microsoft.com/office/drawing/2014/main" id="{65E509CF-F8A7-9378-58A4-04E471B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8009" y="3307158"/>
            <a:ext cx="13167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MC / PP</a:t>
            </a:r>
          </a:p>
        </p:txBody>
      </p:sp>
      <p:sp>
        <p:nvSpPr>
          <p:cNvPr id="21" name="Text 23">
            <a:extLst xmlns:a="http://schemas.openxmlformats.org/drawingml/2006/main">
              <a:ext uri="{FF2B5EF4-FFF2-40B4-BE49-F238E27FC236}">
                <a16:creationId xmlns:a16="http://schemas.microsoft.com/office/drawing/2014/main" id="{E5FAAD3A-0963-6839-140D-D1B6D9A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6297" y="3535758"/>
            <a:ext cx="1280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Value + photo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range validation</a:t>
            </a:r>
          </a:p>
        </p:txBody>
      </p:sp>
      <p:sp>
        <p:nvSpPr>
          <p:cNvPr id="23" name="Shape 24">
            <a:extLst xmlns:a="http://schemas.openxmlformats.org/drawingml/2006/main">
              <a:ext uri="{FF2B5EF4-FFF2-40B4-BE49-F238E27FC236}">
                <a16:creationId xmlns:a16="http://schemas.microsoft.com/office/drawing/2014/main" id="{11F01055-5091-78B3-A485-7B33105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9789" y="3192943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5">
            <a:extLst xmlns:a="http://schemas.openxmlformats.org/drawingml/2006/main">
              <a:ext uri="{FF2B5EF4-FFF2-40B4-BE49-F238E27FC236}">
                <a16:creationId xmlns:a16="http://schemas.microsoft.com/office/drawing/2014/main" id="{8E7EEE0F-35D7-966A-5B0B-A0EA7978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2941" y="3337448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Sampling</a:t>
            </a:r>
          </a:p>
        </p:txBody>
      </p:sp>
      <p:sp>
        <p:nvSpPr>
          <p:cNvPr id="25" name="Text 26">
            <a:extLst xmlns:a="http://schemas.openxmlformats.org/drawingml/2006/main">
              <a:ext uri="{FF2B5EF4-FFF2-40B4-BE49-F238E27FC236}">
                <a16:creationId xmlns:a16="http://schemas.microsoft.com/office/drawing/2014/main" id="{7550EC1D-B863-34EB-10C9-06A9A12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1229" y="3566048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Process / request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Sample ID</a:t>
            </a:r>
          </a:p>
        </p:txBody>
      </p:sp>
      <p:sp>
        <p:nvSpPr>
          <p:cNvPr id="27" name="Shape 27">
            <a:extLst xmlns:a="http://schemas.openxmlformats.org/drawingml/2006/main">
              <a:ext uri="{FF2B5EF4-FFF2-40B4-BE49-F238E27FC236}">
                <a16:creationId xmlns:a16="http://schemas.microsoft.com/office/drawing/2014/main" id="{2A53E0BD-BEB5-E443-81D0-6A39D488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1618" y="5347950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 w="12700">
            <a:solidFill>
              <a:schemeClr val="accent4">
                <a:lumMod val="75000"/>
              </a:schemeClr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8">
            <a:extLst xmlns:a="http://schemas.openxmlformats.org/drawingml/2006/main">
              <a:ext uri="{FF2B5EF4-FFF2-40B4-BE49-F238E27FC236}">
                <a16:creationId xmlns:a16="http://schemas.microsoft.com/office/drawing/2014/main" id="{8249A664-D4E0-000E-ED0D-D389309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4770" y="5466822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Review / Approval</a:t>
            </a:r>
          </a:p>
        </p:txBody>
      </p:sp>
      <p:sp>
        <p:nvSpPr>
          <p:cNvPr id="29" name="Text 29">
            <a:extLst xmlns:a="http://schemas.openxmlformats.org/drawingml/2006/main">
              <a:ext uri="{FF2B5EF4-FFF2-40B4-BE49-F238E27FC236}">
                <a16:creationId xmlns:a16="http://schemas.microsoft.com/office/drawing/2014/main" id="{27D46717-2C37-B25E-28EB-EFF96658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3058" y="5695422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Revise • approve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status lock</a:t>
            </a:r>
          </a:p>
        </p:txBody>
      </p:sp>
      <p:sp>
        <p:nvSpPr>
          <p:cNvPr id="31" name="Shape 11">
            <a:extLst xmlns:a="http://schemas.openxmlformats.org/drawingml/2006/main">
              <a:ext uri="{FF2B5EF4-FFF2-40B4-BE49-F238E27FC236}">
                <a16:creationId xmlns:a16="http://schemas.microsoft.com/office/drawing/2014/main" id="{23AC6286-06A8-A549-4D6E-41E25FF3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7917" y="569821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8124579-3ABC-BE70-5B25-A8BA6290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3397" y="5384526"/>
            <a:ext cx="4480560" cy="841248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D0E4D69-47B9-E7CE-42F3-57F5DBFC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1997" y="5478759"/>
            <a:ext cx="1417320" cy="531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2A47"/>
                </a:solidFill>
              </a:rPr>
              <a:t>Plant Database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E4C17B9-F93D-3476-C276-C5BF2C0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196" y="5469616"/>
            <a:ext cx="2467033" cy="540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667085"/>
                </a:solidFill>
              </a:rPr>
              <a:t>Own transaction • evidence • role • status • audit trail; bridge sends only agreed summaries.</a:t>
            </a:r>
          </a:p>
        </p:txBody>
      </p:sp>
      <p:cxnSp>
        <p:nvCxnSpPr>
          <p:cNvPr id="163" name="Straight Arrow Connector 34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938938" y="5805150"/>
            <a:ext cx="139445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" name="Straight Arrow Connector 35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89821" y="3642457"/>
            <a:ext cx="603858" cy="480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" name="Straight Arrow Connector 36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810999" y="3645486"/>
            <a:ext cx="603858" cy="177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6" name="Straight Arrow Connector 37"/>
          <p:cNvCxnSpPr>
            <a:stCxn xmlns:a="http://schemas.openxmlformats.org/drawingml/2006/main" id="1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77897" y="3645486"/>
            <a:ext cx="598146" cy="120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7" name="Straight Arrow Connector 38"/>
          <p:cNvCxnSpPr>
            <a:stCxn xmlns:a="http://schemas.openxmlformats.org/drawingml/2006/main" id="1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93363" y="3646690"/>
            <a:ext cx="576426" cy="34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8" name="Connector: Elbow 39"/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rot="5400000">
            <a:off x="8737472" y="3943548"/>
            <a:ext cx="1277183" cy="1604772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0754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8FC47682-E28B-5D35-90E4-8493B68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Lab/SPL: dari request hingga hasil final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E8F191C8-7C9B-52DF-D2F8-31696DC8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Lab owns request, receipt, testing, review, approval, dan final status; hanya event yang disepakati tersinkron.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65B0E564-D11D-1E26-2E05-4E86C1A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243" y="1705998"/>
            <a:ext cx="7051514" cy="6113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Lab/SPL menstandarkan chain of custody dan result workflow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dengan approval, retest loop, dan audit history.</a:t>
            </a:r>
          </a:p>
        </p:txBody>
      </p:sp>
      <p:sp>
        <p:nvSpPr>
          <p:cNvPr id="3" name="Shape 9">
            <a:extLst xmlns:a="http://schemas.openxmlformats.org/drawingml/2006/main">
              <a:ext uri="{FF2B5EF4-FFF2-40B4-BE49-F238E27FC236}">
                <a16:creationId xmlns:a16="http://schemas.microsoft.com/office/drawing/2014/main" id="{80E7349C-C499-C836-1B31-C1724A2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9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10">
            <a:extLst xmlns:a="http://schemas.openxmlformats.org/drawingml/2006/main">
              <a:ext uri="{FF2B5EF4-FFF2-40B4-BE49-F238E27FC236}">
                <a16:creationId xmlns:a16="http://schemas.microsoft.com/office/drawing/2014/main" id="{D72C7C71-38F9-356F-B237-B583002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91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Request</a:t>
            </a:r>
          </a:p>
        </p:txBody>
      </p:sp>
      <p:sp>
        <p:nvSpPr>
          <p:cNvPr id="7" name="Text 11">
            <a:extLst xmlns:a="http://schemas.openxmlformats.org/drawingml/2006/main">
              <a:ext uri="{FF2B5EF4-FFF2-40B4-BE49-F238E27FC236}">
                <a16:creationId xmlns:a16="http://schemas.microsoft.com/office/drawing/2014/main" id="{EF1B2996-6A39-E785-3FDD-34A56278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9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Test • priority
due date</a:t>
            </a:r>
          </a:p>
        </p:txBody>
      </p:sp>
      <p:sp>
        <p:nvSpPr>
          <p:cNvPr id="8" name="Shape 12">
            <a:extLst xmlns:a="http://schemas.openxmlformats.org/drawingml/2006/main">
              <a:ext uri="{FF2B5EF4-FFF2-40B4-BE49-F238E27FC236}">
                <a16:creationId xmlns:a16="http://schemas.microsoft.com/office/drawing/2014/main" id="{5BC0F9CB-EF37-57AA-DB1F-69A29AA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35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13">
            <a:extLst xmlns:a="http://schemas.openxmlformats.org/drawingml/2006/main">
              <a:ext uri="{FF2B5EF4-FFF2-40B4-BE49-F238E27FC236}">
                <a16:creationId xmlns:a16="http://schemas.microsoft.com/office/drawing/2014/main" id="{1820EB47-B9EE-0A0E-033A-5053B18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87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Sample Receipt</a:t>
            </a:r>
          </a:p>
        </p:txBody>
      </p:sp>
      <p:sp>
        <p:nvSpPr>
          <p:cNvPr id="10" name="Text 14">
            <a:extLst xmlns:a="http://schemas.openxmlformats.org/drawingml/2006/main">
              <a:ext uri="{FF2B5EF4-FFF2-40B4-BE49-F238E27FC236}">
                <a16:creationId xmlns:a16="http://schemas.microsoft.com/office/drawing/2014/main" id="{AEF5E4AB-151D-4387-35A3-9566E739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175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Qty • condition
chain of custody</a:t>
            </a:r>
          </a:p>
        </p:txBody>
      </p:sp>
      <p:sp>
        <p:nvSpPr>
          <p:cNvPr id="11" name="Shape 15">
            <a:extLst xmlns:a="http://schemas.openxmlformats.org/drawingml/2006/main">
              <a:ext uri="{FF2B5EF4-FFF2-40B4-BE49-F238E27FC236}">
                <a16:creationId xmlns:a16="http://schemas.microsoft.com/office/drawing/2014/main" id="{12B0BC0D-2D8A-9F19-8C5D-72CED783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431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6">
            <a:extLst xmlns:a="http://schemas.openxmlformats.org/drawingml/2006/main">
              <a:ext uri="{FF2B5EF4-FFF2-40B4-BE49-F238E27FC236}">
                <a16:creationId xmlns:a16="http://schemas.microsoft.com/office/drawing/2014/main" id="{64DD3C86-E5F6-7287-7E79-5E38256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583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Assignment</a:t>
            </a:r>
          </a:p>
        </p:txBody>
      </p:sp>
      <p:sp>
        <p:nvSpPr>
          <p:cNvPr id="13" name="Text 17">
            <a:extLst xmlns:a="http://schemas.openxmlformats.org/drawingml/2006/main">
              <a:ext uri="{FF2B5EF4-FFF2-40B4-BE49-F238E27FC236}">
                <a16:creationId xmlns:a16="http://schemas.microsoft.com/office/drawing/2014/main" id="{60390EBE-12D4-F030-5329-8CE0168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871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Analyst • method
equipment</a:t>
            </a:r>
          </a:p>
        </p:txBody>
      </p:sp>
      <p:sp>
        <p:nvSpPr>
          <p:cNvPr id="14" name="Shape 18">
            <a:extLst xmlns:a="http://schemas.openxmlformats.org/drawingml/2006/main">
              <a:ext uri="{FF2B5EF4-FFF2-40B4-BE49-F238E27FC236}">
                <a16:creationId xmlns:a16="http://schemas.microsoft.com/office/drawing/2014/main" id="{7D9ED8E5-5EEC-8675-F9C8-A709B612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127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 w="12700">
            <a:solidFill>
              <a:schemeClr val="accent1">
                <a:lumMod val="75000"/>
              </a:schemeClr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9">
            <a:extLst xmlns:a="http://schemas.openxmlformats.org/drawingml/2006/main">
              <a:ext uri="{FF2B5EF4-FFF2-40B4-BE49-F238E27FC236}">
                <a16:creationId xmlns:a16="http://schemas.microsoft.com/office/drawing/2014/main" id="{AE7AAAF8-522B-6460-09FB-F4C7D585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279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Testing Result</a:t>
            </a:r>
          </a:p>
        </p:txBody>
      </p:sp>
      <p:sp>
        <p:nvSpPr>
          <p:cNvPr id="16" name="Text 20">
            <a:extLst xmlns:a="http://schemas.openxmlformats.org/drawingml/2006/main">
              <a:ext uri="{FF2B5EF4-FFF2-40B4-BE49-F238E27FC236}">
                <a16:creationId xmlns:a16="http://schemas.microsoft.com/office/drawing/2014/main" id="{F4376B97-76B9-905C-CA26-1C40D37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567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Parameter • value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unit • evidence</a:t>
            </a:r>
          </a:p>
        </p:txBody>
      </p:sp>
      <p:sp>
        <p:nvSpPr>
          <p:cNvPr id="17" name="Shape 21">
            <a:extLst xmlns:a="http://schemas.openxmlformats.org/drawingml/2006/main">
              <a:ext uri="{FF2B5EF4-FFF2-40B4-BE49-F238E27FC236}">
                <a16:creationId xmlns:a16="http://schemas.microsoft.com/office/drawing/2014/main" id="{048F7A41-3EF1-F43E-1A02-94E29D85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823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 w="12700">
            <a:solidFill>
              <a:schemeClr val="accent1">
                <a:lumMod val="75000"/>
              </a:schemeClr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22">
            <a:extLst xmlns:a="http://schemas.openxmlformats.org/drawingml/2006/main">
              <a:ext uri="{FF2B5EF4-FFF2-40B4-BE49-F238E27FC236}">
                <a16:creationId xmlns:a16="http://schemas.microsoft.com/office/drawing/2014/main" id="{F4361B74-3262-8E12-8DE9-00946BBB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975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Approval</a:t>
            </a:r>
          </a:p>
        </p:txBody>
      </p:sp>
      <p:sp>
        <p:nvSpPr>
          <p:cNvPr id="19" name="Text 23">
            <a:extLst xmlns:a="http://schemas.openxmlformats.org/drawingml/2006/main">
              <a:ext uri="{FF2B5EF4-FFF2-40B4-BE49-F238E27FC236}">
                <a16:creationId xmlns:a16="http://schemas.microsoft.com/office/drawing/2014/main" id="{9ED5533B-32AF-5301-A3E4-5F21CB0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263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Approve • reject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re-test</a:t>
            </a:r>
          </a:p>
        </p:txBody>
      </p:sp>
      <p:sp>
        <p:nvSpPr>
          <p:cNvPr id="20" name="Shape 26">
            <a:extLst xmlns:a="http://schemas.openxmlformats.org/drawingml/2006/main">
              <a:ext uri="{FF2B5EF4-FFF2-40B4-BE49-F238E27FC236}">
                <a16:creationId xmlns:a16="http://schemas.microsoft.com/office/drawing/2014/main" id="{46F20DE5-F744-AEB8-D0C9-A8E1B75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479" y="4586035"/>
            <a:ext cx="43891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E5C0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27">
            <a:extLst xmlns:a="http://schemas.openxmlformats.org/drawingml/2006/main">
              <a:ext uri="{FF2B5EF4-FFF2-40B4-BE49-F238E27FC236}">
                <a16:creationId xmlns:a16="http://schemas.microsoft.com/office/drawing/2014/main" id="{71906796-E5A4-22FB-6E80-8DAA9C29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079" y="4832923"/>
            <a:ext cx="3931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D97706"/>
                </a:solidFill>
              </a:rPr>
              <a:t>Bridge ke Plant &amp; Portal: request • receipt • final result • KPI snapshot</a:t>
            </a:r>
          </a:p>
        </p:txBody>
      </p:sp>
      <p:sp>
        <p:nvSpPr>
          <p:cNvPr id="22" name="Shape 30">
            <a:extLst xmlns:a="http://schemas.openxmlformats.org/drawingml/2006/main">
              <a:ext uri="{FF2B5EF4-FFF2-40B4-BE49-F238E27FC236}">
                <a16:creationId xmlns:a16="http://schemas.microsoft.com/office/drawing/2014/main" id="{025F3D75-84D9-E8FA-459A-D1E1F93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35" y="454945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31">
            <a:extLst xmlns:a="http://schemas.openxmlformats.org/drawingml/2006/main">
              <a:ext uri="{FF2B5EF4-FFF2-40B4-BE49-F238E27FC236}">
                <a16:creationId xmlns:a16="http://schemas.microsoft.com/office/drawing/2014/main" id="{F4EE3B8B-C838-53EE-4065-F646481E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87" y="466833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PP/TSW Review</a:t>
            </a:r>
          </a:p>
        </p:txBody>
      </p:sp>
      <p:sp>
        <p:nvSpPr>
          <p:cNvPr id="24" name="Text 32">
            <a:extLst xmlns:a="http://schemas.openxmlformats.org/drawingml/2006/main">
              <a:ext uri="{FF2B5EF4-FFF2-40B4-BE49-F238E27FC236}">
                <a16:creationId xmlns:a16="http://schemas.microsoft.com/office/drawing/2014/main" id="{3D357AA4-0FB6-F8FB-5825-E502ED2C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175" y="489693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Compare source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Lot + evidence</a:t>
            </a:r>
          </a:p>
        </p:txBody>
      </p:sp>
      <p:cxnSp>
        <p:nvCxnSpPr>
          <p:cNvPr id="149" name="Straight Arrow Connector 24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33607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0" name="Straight Arrow Connector 25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93911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1" name="Straight Arrow Connector 26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12999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2" name="Straight Arrow Connector 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3303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3" name="Straight Arrow Connector 28"/>
          <p:cNvCxnSpPr>
            <a:stCxn xmlns:a="http://schemas.openxmlformats.org/drawingml/2006/main" id="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802671" y="3781363"/>
            <a:ext cx="0" cy="768096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4" name="Straight Arrow Connector 29"/>
          <p:cNvCxnSpPr>
            <a:stCxn xmlns:a="http://schemas.openxmlformats.org/drawingml/2006/main" id="22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433607" y="4942651"/>
            <a:ext cx="2404872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5" name="Straight Arrow Connector 30"/>
          <p:cNvCxnSpPr>
            <a:stCxn xmlns:a="http://schemas.openxmlformats.org/drawingml/2006/main" id="17" idx="2"/>
          </p:cNvCxnSpPr>
          <p:nvPr/>
        </p:nvCxnSpPr>
        <p:spPr>
          <a:xfrm xmlns:a="http://schemas.openxmlformats.org/drawingml/2006/main">
            <a:off x="10221759" y="3781363"/>
            <a:ext cx="0" cy="768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6" name="Straight Arrow Connector 31"/>
          <p:cNvCxnSpPr>
            <a:stCxn xmlns:a="http://schemas.openxmlformats.org/drawingml/2006/main" id="14" idx="2"/>
          </p:cNvCxnSpPr>
          <p:nvPr/>
        </p:nvCxnSpPr>
        <p:spPr>
          <a:xfrm xmlns:a="http://schemas.openxmlformats.org/drawingml/2006/main">
            <a:off x="8082063" y="3781363"/>
            <a:ext cx="0" cy="768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2416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Bridge menyinkronkan event—bukan menyatukan database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API v1.0 memakai shared key, idempotency, retry, acknowledgement, dan error log.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1. Enam event MVP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Request, sample, source test, final result, dan KPI snapshot berpindah melalui event yang eksplisit.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2. Reliability by design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Queue, retry, acknowledgement, replace, dan idempotency mencegah loss atau duplikasi.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3. Ownership tetap jelas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dan Lab tetap system of record; bridge menyimpan event, mapping, dan error history.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Kontrak handoff utama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→ Plant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lab.request.created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Plant → Lab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plant.sample.sent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plant.test.submitted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→ Plant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lab.sample.received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lab.result.finalized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Modules → Portal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module.kpi.snapshot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9FCB73F-121B-869A-2532-FD912A5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MVP mencakup 20 layar dengan pengalaman web + PWA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41AFC61-E744-8857-D9C3-C2B4DBE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Role matrix menjaga setiap pengguna hanya melihat dan mengubah fungsi yang relevan.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54C20192-094F-EF56-303D-4B90D41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1416331"/>
            <a:ext cx="7955280" cy="900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Web untuk mengelola dan mereview; PWA untuk eksekusi singkat di titik kerja.</a:t>
            </a:r>
          </a:p>
        </p:txBody>
      </p:sp>
      <p:sp>
        <p:nvSpPr>
          <p:cNvPr id="6" name="Shape 5">
            <a:extLst xmlns:a="http://schemas.openxmlformats.org/drawingml/2006/main">
              <a:ext uri="{FF2B5EF4-FFF2-40B4-BE49-F238E27FC236}">
                <a16:creationId xmlns:a16="http://schemas.microsoft.com/office/drawing/2014/main" id="{C5E6F848-4125-C1CA-F604-C7710B4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6">
            <a:extLst xmlns:a="http://schemas.openxmlformats.org/drawingml/2006/main">
              <a:ext uri="{FF2B5EF4-FFF2-40B4-BE49-F238E27FC236}">
                <a16:creationId xmlns:a16="http://schemas.microsoft.com/office/drawing/2014/main" id="{984CAB0A-E2CC-36BA-2DF1-79A0E38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4D6E1264-95FE-9C2A-807A-E8B32C2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Portal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F2BA679-C5BB-BD87-BCD5-4C110EB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Login/SSO, module launcher, global dashboard, dan access admin.</a:t>
            </a:r>
          </a:p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D747386B-ADA1-556E-1B24-7585544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10">
            <a:extLst xmlns:a="http://schemas.openxmlformats.org/drawingml/2006/main">
              <a:ext uri="{FF2B5EF4-FFF2-40B4-BE49-F238E27FC236}">
                <a16:creationId xmlns:a16="http://schemas.microsoft.com/office/drawing/2014/main" id="{EA42CFAF-8948-8EAE-3B03-F7B0318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E5D51DB1-60B1-7EC4-F430-41FFBEB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Plant Web + PWA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F2CD9AFE-68DB-F8C3-6929-67D5F04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Lot plan, direct/lot-based inspection, MC/PP, sampling, dan reports.</a:t>
            </a:r>
          </a:p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72A3E1CD-809B-D24F-B0D7-8D4A37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4">
            <a:extLst xmlns:a="http://schemas.openxmlformats.org/drawingml/2006/main">
              <a:ext uri="{FF2B5EF4-FFF2-40B4-BE49-F238E27FC236}">
                <a16:creationId xmlns:a16="http://schemas.microsoft.com/office/drawing/2014/main" id="{2880D5D9-F629-39E9-A21D-C4EBE25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3A45AB53-B60D-1270-A45E-A712044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Lab Web + PWA</a:t>
            </a:r>
          </a:p>
        </p:txBody>
      </p:sp>
      <p:sp>
        <p:nvSpPr>
          <p:cNvPr id="17" name="Text 16">
            <a:extLst xmlns:a="http://schemas.openxmlformats.org/drawingml/2006/main">
              <a:ext uri="{FF2B5EF4-FFF2-40B4-BE49-F238E27FC236}">
                <a16:creationId xmlns:a16="http://schemas.microsoft.com/office/drawing/2014/main" id="{BC9BF9E9-36EC-D7EC-D523-D394185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Request, sample receipt, result input, source review, approval, dan reports.</a:t>
            </a:r>
          </a:p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1684EA69-926B-EFDD-D568-D6D0958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8">
            <a:extLst xmlns:a="http://schemas.openxmlformats.org/drawingml/2006/main">
              <a:ext uri="{FF2B5EF4-FFF2-40B4-BE49-F238E27FC236}">
                <a16:creationId xmlns:a16="http://schemas.microsoft.com/office/drawing/2014/main" id="{771BB120-AB6C-CAA0-404B-D4644E1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6B34202F-2087-316F-3C70-7F73A0D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Admin &amp; control</a:t>
            </a:r>
          </a:p>
        </p:txBody>
      </p:sp>
      <p:sp>
        <p:nvSpPr>
          <p:cNvPr id="21" name="Text 20">
            <a:extLst xmlns:a="http://schemas.openxmlformats.org/drawingml/2006/main">
              <a:ext uri="{FF2B5EF4-FFF2-40B4-BE49-F238E27FC236}">
                <a16:creationId xmlns:a16="http://schemas.microsoft.com/office/drawing/2014/main" id="{C466A4CF-65B1-7C06-C1DC-BCD4828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RBAC, master data, sync monitor, export Excel/PDF, dan audit history.</a:t>
            </a:r>
          </a:p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CBCA4C42-8683-D3F3-4D5C-F7034426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" y="5061732"/>
            <a:ext cx="1014984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83630229-7605-48AE-23DB-1594349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" y="5180604"/>
            <a:ext cx="380438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2A47"/>
                </a:solidFill>
              </a:rPr>
              <a:t>Reusable interaction pattern</a:t>
            </a:r>
          </a:p>
        </p:txBody>
      </p:sp>
      <p:sp>
        <p:nvSpPr>
          <p:cNvPr id="24" name="Shape 23">
            <a:extLst xmlns:a="http://schemas.openxmlformats.org/drawingml/2006/main">
              <a:ext uri="{FF2B5EF4-FFF2-40B4-BE49-F238E27FC236}">
                <a16:creationId xmlns:a16="http://schemas.microsoft.com/office/drawing/2014/main" id="{09F76418-6EA6-52CB-50F8-29E4B07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5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4">
            <a:extLst xmlns:a="http://schemas.openxmlformats.org/drawingml/2006/main">
              <a:ext uri="{FF2B5EF4-FFF2-40B4-BE49-F238E27FC236}">
                <a16:creationId xmlns:a16="http://schemas.microsoft.com/office/drawing/2014/main" id="{003DEE91-9EFB-34A7-E247-BCCA52B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31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Dashboard / inbox</a:t>
            </a:r>
          </a:p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0551D6C1-A12F-6CA8-468C-C4A75FF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F2D40287-98FF-122D-8916-DEC20B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5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List + filter</a:t>
            </a:r>
          </a:p>
        </p:txBody>
      </p:sp>
      <p:sp>
        <p:nvSpPr>
          <p:cNvPr id="28" name="Shape 27">
            <a:extLst xmlns:a="http://schemas.openxmlformats.org/drawingml/2006/main">
              <a:ext uri="{FF2B5EF4-FFF2-40B4-BE49-F238E27FC236}">
                <a16:creationId xmlns:a16="http://schemas.microsoft.com/office/drawing/2014/main" id="{35D090AD-644A-4D28-98BB-7F717BF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8">
            <a:extLst xmlns:a="http://schemas.openxmlformats.org/drawingml/2006/main">
              <a:ext uri="{FF2B5EF4-FFF2-40B4-BE49-F238E27FC236}">
                <a16:creationId xmlns:a16="http://schemas.microsoft.com/office/drawing/2014/main" id="{BF8BD781-51AC-EF32-80EE-A6E77F8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9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Detail / form</a:t>
            </a:r>
          </a:p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A4603F8-4F48-13B1-94A0-CB549F9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7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3A99BE86-3D98-C2DD-1100-FFF9A46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03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Review / decision</a:t>
            </a:r>
          </a:p>
        </p:txBody>
      </p:sp>
      <p:sp>
        <p:nvSpPr>
          <p:cNvPr id="32" name="Shape 31">
            <a:extLst xmlns:a="http://schemas.openxmlformats.org/drawingml/2006/main">
              <a:ext uri="{FF2B5EF4-FFF2-40B4-BE49-F238E27FC236}">
                <a16:creationId xmlns:a16="http://schemas.microsoft.com/office/drawing/2014/main" id="{CB289C1B-924D-C4DD-5C35-9D425D5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51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2">
            <a:extLst xmlns:a="http://schemas.openxmlformats.org/drawingml/2006/main">
              <a:ext uri="{FF2B5EF4-FFF2-40B4-BE49-F238E27FC236}">
                <a16:creationId xmlns:a16="http://schemas.microsoft.com/office/drawing/2014/main" id="{DF12950A-FD06-831E-ACD2-8A59080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72" y="5823234"/>
            <a:ext cx="1554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Report / export</a:t>
            </a:r>
          </a:p>
        </p:txBody>
      </p:sp>
    </p:spTree>
    <p:extLst>
      <p:ext uri="{BB962C8B-B14F-4D97-AF65-F5344CB8AC3E}">
        <p14:creationId xmlns:p14="http://schemas.microsoft.com/office/powerpoint/2010/main" val="18799169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9FCB73F-121B-869A-2532-FD912A5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KPI diarahkan ke exception, handoff, dan keputusan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41AFC61-E744-8857-D9C3-C2B4DBE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Definisi berasal dari register KPI blueprint; target numerik dikunci saat baseline dan UAT.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54C20192-094F-EF56-303D-4B90D41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1416331"/>
            <a:ext cx="7955280" cy="900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Dashboard menunjukkan apa yang terlambat, gagal, atau perlu tindakan—bukan hanya volume aktivitas.</a:t>
            </a:r>
          </a:p>
        </p:txBody>
      </p:sp>
      <p:sp>
        <p:nvSpPr>
          <p:cNvPr id="6" name="Shape 5">
            <a:extLst xmlns:a="http://schemas.openxmlformats.org/drawingml/2006/main">
              <a:ext uri="{FF2B5EF4-FFF2-40B4-BE49-F238E27FC236}">
                <a16:creationId xmlns:a16="http://schemas.microsoft.com/office/drawing/2014/main" id="{C5E6F848-4125-C1CA-F604-C7710B4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6">
            <a:extLst xmlns:a="http://schemas.openxmlformats.org/drawingml/2006/main">
              <a:ext uri="{FF2B5EF4-FFF2-40B4-BE49-F238E27FC236}">
                <a16:creationId xmlns:a16="http://schemas.microsoft.com/office/drawing/2014/main" id="{984CAB0A-E2CC-36BA-2DF1-79A0E38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4D6E1264-95FE-9C2A-807A-E8B32C2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Plant control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F2BA679-C5BB-BD87-BCD5-4C110EB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Pending inspection, pass rate, open OOS, serta sample ready/sent.</a:t>
            </a:r>
          </a:p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D747386B-ADA1-556E-1B24-7585544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10">
            <a:extLst xmlns:a="http://schemas.openxmlformats.org/drawingml/2006/main">
              <a:ext uri="{FF2B5EF4-FFF2-40B4-BE49-F238E27FC236}">
                <a16:creationId xmlns:a16="http://schemas.microsoft.com/office/drawing/2014/main" id="{EA42CFAF-8948-8EAE-3B03-F7B0318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E5D51DB1-60B1-7EC4-F430-41FFBEB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Lab control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F2CD9AFE-68DB-F8C3-6929-67D5F04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Pending request, sample aging, approval TAT, dan re-test rate.</a:t>
            </a:r>
          </a:p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72A3E1CD-809B-D24F-B0D7-8D4A37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4">
            <a:extLst xmlns:a="http://schemas.openxmlformats.org/drawingml/2006/main">
              <a:ext uri="{FF2B5EF4-FFF2-40B4-BE49-F238E27FC236}">
                <a16:creationId xmlns:a16="http://schemas.microsoft.com/office/drawing/2014/main" id="{2880D5D9-F629-39E9-A21D-C4EBE25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3A45AB53-B60D-1270-A45E-A712044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control</a:t>
            </a:r>
          </a:p>
        </p:txBody>
      </p:sp>
      <p:sp>
        <p:nvSpPr>
          <p:cNvPr id="17" name="Text 16">
            <a:extLst xmlns:a="http://schemas.openxmlformats.org/drawingml/2006/main">
              <a:ext uri="{FF2B5EF4-FFF2-40B4-BE49-F238E27FC236}">
                <a16:creationId xmlns:a16="http://schemas.microsoft.com/office/drawing/2014/main" id="{BC9BF9E9-36EC-D7EC-D523-D394185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End-to-end Lot status, overdue handoff, dan module KPI snapshot.</a:t>
            </a:r>
          </a:p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1684EA69-926B-EFDD-D568-D6D0958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8">
            <a:extLst xmlns:a="http://schemas.openxmlformats.org/drawingml/2006/main">
              <a:ext uri="{FF2B5EF4-FFF2-40B4-BE49-F238E27FC236}">
                <a16:creationId xmlns:a16="http://schemas.microsoft.com/office/drawing/2014/main" id="{771BB120-AB6C-CAA0-404B-D4644E1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6B34202F-2087-316F-3C70-7F73A0D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Integration control</a:t>
            </a:r>
          </a:p>
        </p:txBody>
      </p:sp>
      <p:sp>
        <p:nvSpPr>
          <p:cNvPr id="21" name="Text 20">
            <a:extLst xmlns:a="http://schemas.openxmlformats.org/drawingml/2006/main">
              <a:ext uri="{FF2B5EF4-FFF2-40B4-BE49-F238E27FC236}">
                <a16:creationId xmlns:a16="http://schemas.microsoft.com/office/drawing/2014/main" id="{C466A4CF-65B1-7C06-C1DC-BCD4828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Queued/confirmed/failed event, sync age, retry, dan source-target.</a:t>
            </a:r>
          </a:p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CBCA4C42-8683-D3F3-4D5C-F7034426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" y="5061732"/>
            <a:ext cx="1014984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83630229-7605-48AE-23DB-1594349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" y="5180604"/>
            <a:ext cx="380438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2A47"/>
                </a:solidFill>
              </a:rPr>
              <a:t>Minimum filter dan audit context</a:t>
            </a:r>
          </a:p>
        </p:txBody>
      </p:sp>
      <p:sp>
        <p:nvSpPr>
          <p:cNvPr id="24" name="Shape 23">
            <a:extLst xmlns:a="http://schemas.openxmlformats.org/drawingml/2006/main">
              <a:ext uri="{FF2B5EF4-FFF2-40B4-BE49-F238E27FC236}">
                <a16:creationId xmlns:a16="http://schemas.microsoft.com/office/drawing/2014/main" id="{09F76418-6EA6-52CB-50F8-29E4B07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5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4">
            <a:extLst xmlns:a="http://schemas.openxmlformats.org/drawingml/2006/main">
              <a:ext uri="{FF2B5EF4-FFF2-40B4-BE49-F238E27FC236}">
                <a16:creationId xmlns:a16="http://schemas.microsoft.com/office/drawing/2014/main" id="{003DEE91-9EFB-34A7-E247-BCCA52B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31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Tanggal / lokasi</a:t>
            </a:r>
          </a:p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0551D6C1-A12F-6CA8-468C-C4A75FF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F2D40287-98FF-122D-8916-DEC20B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5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Produk / proses</a:t>
            </a:r>
          </a:p>
        </p:txBody>
      </p:sp>
      <p:sp>
        <p:nvSpPr>
          <p:cNvPr id="28" name="Shape 27">
            <a:extLst xmlns:a="http://schemas.openxmlformats.org/drawingml/2006/main">
              <a:ext uri="{FF2B5EF4-FFF2-40B4-BE49-F238E27FC236}">
                <a16:creationId xmlns:a16="http://schemas.microsoft.com/office/drawing/2014/main" id="{35D090AD-644A-4D28-98BB-7F717BF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8">
            <a:extLst xmlns:a="http://schemas.openxmlformats.org/drawingml/2006/main">
              <a:ext uri="{FF2B5EF4-FFF2-40B4-BE49-F238E27FC236}">
                <a16:creationId xmlns:a16="http://schemas.microsoft.com/office/drawing/2014/main" id="{BF8BD781-51AC-EF32-80EE-A6E77F8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9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Owner / analyst</a:t>
            </a:r>
          </a:p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A4603F8-4F48-13B1-94A0-CB549F9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7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3A99BE86-3D98-C2DD-1100-FFF9A46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03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Status / priority</a:t>
            </a:r>
          </a:p>
        </p:txBody>
      </p:sp>
      <p:sp>
        <p:nvSpPr>
          <p:cNvPr id="32" name="Shape 31">
            <a:extLst xmlns:a="http://schemas.openxmlformats.org/drawingml/2006/main">
              <a:ext uri="{FF2B5EF4-FFF2-40B4-BE49-F238E27FC236}">
                <a16:creationId xmlns:a16="http://schemas.microsoft.com/office/drawing/2014/main" id="{CB289C1B-924D-C4DD-5C35-9D425D5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51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2">
            <a:extLst xmlns:a="http://schemas.openxmlformats.org/drawingml/2006/main">
              <a:ext uri="{FF2B5EF4-FFF2-40B4-BE49-F238E27FC236}">
                <a16:creationId xmlns:a16="http://schemas.microsoft.com/office/drawing/2014/main" id="{DF12950A-FD06-831E-ACD2-8A59080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72" y="5823234"/>
            <a:ext cx="1554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Lot / request / sample</a:t>
            </a:r>
          </a:p>
        </p:txBody>
      </p:sp>
    </p:spTree>
    <p:extLst>
      <p:ext uri="{BB962C8B-B14F-4D97-AF65-F5344CB8AC3E}">
        <p14:creationId xmlns:p14="http://schemas.microsoft.com/office/powerpoint/2010/main" val="18799169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095394E-144D-6FE7-AB05-17D11C73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MVP ditargetkan go-live dalam 4 minggu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A745DF2-10D9-9CD6-87B4-5D3D577C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Plant, Lab, dan bridge dimulai paralel; keputusan harian dan slot UAT harus tersedia.</a:t>
            </a:r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E1793846-D3EE-ECEF-8D31-1497D8E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722" y="1674521"/>
            <a:ext cx="9136556" cy="698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Scope dikunci di awal; build, review, dan integrasi berjalan bersamaan.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06BC7BF-E9A1-6CE6-FCA0-40881F2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9DF32BF-A47F-613F-B206-404D54C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7AF9EC-3C59-3FDD-C4FC-970C40D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6012F34-F3EC-BDBC-357A-34BD576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W1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90AEAF0-854B-AAA7-D25E-616A276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Lock field, role, ID, architecture, dan bridge contract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481514D-11F2-CF75-417C-CDA2F2E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6A765E9-397A-6016-F2CB-775E8AFD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964E90-525F-9A2C-EFE9-0952CA3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EDA370-CE83-3C32-D965-16BCA38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W1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98C8B9F-BBC8-1EA7-D3FF-7E99076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UX prototype + build kick-off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50525D7-B8C1-038C-5138-08EA3A47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B959318-7311-E36F-A5F0-EA8FF594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09CA087-4917-DBCD-BF86-361E4A1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8B7C93-D0E8-6A48-A183-632242D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W1–3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9C95DB5-79D5-3160-77B8-E6F4380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Build Plant + Lab web/PWA secara paralel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CD806E5-66DB-F263-1AC5-E0A5FFDD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D16C719-BB2C-076D-27E6-F5A301A2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6C87B80-C9DB-08CB-2A97-4E0A0FA6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C850BC6A-694A-EC68-EAEB-D8CE89F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W2–3</a:t>
            </a: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F2D2967A-E447-FE91-8551-9A51EA53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Bridge, portal, dashboard, dan report</a:t>
            </a:r>
          </a:p>
        </p:txBody>
      </p:sp>
      <p:sp>
        <p:nvSpPr>
          <p:cNvPr id="55" name="Shape 25">
            <a:extLst xmlns:a="http://schemas.openxmlformats.org/drawingml/2006/main">
              <a:ext uri="{FF2B5EF4-FFF2-40B4-BE49-F238E27FC236}">
                <a16:creationId xmlns:a16="http://schemas.microsoft.com/office/drawing/2014/main" id="{25AAD102-C12A-41D2-386B-87C3142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Shape 26">
            <a:extLst xmlns:a="http://schemas.openxmlformats.org/drawingml/2006/main">
              <a:ext uri="{FF2B5EF4-FFF2-40B4-BE49-F238E27FC236}">
                <a16:creationId xmlns:a16="http://schemas.microsoft.com/office/drawing/2014/main" id="{8D13464C-CEC6-EA42-B6E4-83A5213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C750DB84-4171-4698-67B6-D3B6748B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2234FD75-1A06-947A-0617-81BDF9E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W4</a:t>
            </a: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4FA6AE69-DB20-A450-A8E2-440EC95F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E2E UAT, fixes, deploy, training, handover</a:t>
            </a:r>
          </a:p>
        </p:txBody>
      </p:sp>
      <p:sp>
        <p:nvSpPr>
          <p:cNvPr id="60" name="Shape 30">
            <a:extLst xmlns:a="http://schemas.openxmlformats.org/drawingml/2006/main">
              <a:ext uri="{FF2B5EF4-FFF2-40B4-BE49-F238E27FC236}">
                <a16:creationId xmlns:a16="http://schemas.microsoft.com/office/drawing/2014/main" id="{EC0A7943-84E9-F386-3C4C-EDF2485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77840"/>
            <a:ext cx="10424160" cy="86868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E5C0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AC40A8E8-0CEC-CFD0-B6F3-DFB4F6D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70448"/>
            <a:ext cx="10012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1828"/>
                </a:solidFill>
              </a:rPr>
              <a:t>Gate: contract Day 2 • prototype Day 4 • progress ≥50% end W2 • feature complete W3 • UAT + go-live W4.</a:t>
            </a:r>
          </a:p>
        </p:txBody>
      </p:sp>
    </p:spTree>
    <p:extLst>
      <p:ext uri="{BB962C8B-B14F-4D97-AF65-F5344CB8AC3E}">
        <p14:creationId xmlns:p14="http://schemas.microsoft.com/office/powerpoint/2010/main" val="35308664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Total quotation Rp235 juta untuk delivery intensif 4 minggu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Plant Rp130 juta + Lab/SPL Rp105 juta, termasuk bridge Rp40 juta; ceiling tetap Rp250 juta.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Plant — Rp130 juta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Standalone core Rp110 juta + bridge allocation Rp20 juta.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Lab/SPL — Rp105 juta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Standalone core Rp85 juta + bridge allocation Rp20 juta.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Total MVP — Rp235 juta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+ Lab/SPL, termasuk total bridge Rp40 juta.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Commercial benchmark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Reference value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Rp336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Unbundled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Special bundle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Rp235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Proposed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Package efficiency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Rp101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vs. reference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Program ceiling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Rp250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Buffer Rp15 juta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Plant standalone core: Rp110 juta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Tujuh work package mencakup siklus operasional web/PWA; bridge allocation Rp20 juta ditampilkan terpisah.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Requirement &amp; UX — Rp8 jt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Scope, field, process map, dan prototype.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Frontend web + PWA — Rp22 jt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channels, task flow, dan responsive forms.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Inspection modules — Rp38 jt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Direct inspection + Drier–Packing lot-based.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Paket core Plant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Toller + sampling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Rp16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MC/PP/photo/sample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Backend + database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Rp14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Auth/RBAC/API/data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Dashboard + export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Rp7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KPI/Excel/PDF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UAT + deployment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Rp5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Training/handover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Lab/SPL standalone core: Rp85 juta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Tujuh work package mencakup request-to-approval, reporting, dan go-live; bridge allocation ditampilkan terpisah.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Requirement &amp; UX — Rp6 jt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Scope, field, workflow, dan prototype.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Frontend web + PWA — Rp18 jt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Lab channels, queue, dan responsive forms.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Request + sample — Rp20 jt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Request, receipt, tracking, dan chain of custody.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Paket core Lab/SPL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Testing + approval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Rp20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Result/review/decision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Backend + database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Rp11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Auth/RBAC/API/data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Dashboard + export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Rp6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KPI/Excel/PDF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UAT + deployment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Rp4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Training/handover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1CE3DE7-403B-D113-BE6D-AF48702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Bridge allocation: Rp20 juta per project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A30A921-4686-BE01-89A1-17CCF05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Kapabilitas yang sama dialokasikan ke Plant dan Lab/SPL; total bridge Rp40 juta.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F791B99B-248C-B790-C04F-DE02D48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81" y="1457966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Pembagian simetris menjaga ownership dan effort integrasi tetap transparan.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B242B306-636D-F9AF-4D68-3ED094B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B42318"/>
                </a:solidFill>
              </a:rPr>
              <a:t>Plant — Rp20 jt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A8133414-3079-4241-0615-3D8EC0C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8B57"/>
                </a:solidFill>
              </a:rPr>
              <a:t>Lab — Rp20 jt</a:t>
            </a:r>
          </a:p>
        </p:txBody>
      </p:sp>
      <p:sp>
        <p:nvSpPr>
          <p:cNvPr id="8" name="Shape 7">
            <a:extLst xmlns:a="http://schemas.openxmlformats.org/drawingml/2006/main">
              <a:ext uri="{FF2B5EF4-FFF2-40B4-BE49-F238E27FC236}">
                <a16:creationId xmlns:a16="http://schemas.microsoft.com/office/drawing/2014/main" id="{92411E75-D47B-AA4B-6BB0-4CBB70AA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8227"/>
            <a:ext cx="960120" cy="5943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8">
            <a:extLst xmlns:a="http://schemas.openxmlformats.org/drawingml/2006/main">
              <a:ext uri="{FF2B5EF4-FFF2-40B4-BE49-F238E27FC236}">
                <a16:creationId xmlns:a16="http://schemas.microsoft.com/office/drawing/2014/main" id="{3956D000-6EE1-B455-9DCD-548FB19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5AD30E27-132D-B95A-8D18-C6922618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64A7651B-E4A2-3D2A-9DA3-87BC3CD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10267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Connector API — Rp8 jt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136F959E-600C-E1AA-3960-9146869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271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Outbound/inbound contract</a:t>
            </a:r>
          </a:p>
        </p:txBody>
      </p:sp>
      <p:sp>
        <p:nvSpPr>
          <p:cNvPr id="13" name="Shape 12">
            <a:extLst xmlns:a="http://schemas.openxmlformats.org/drawingml/2006/main">
              <a:ext uri="{FF2B5EF4-FFF2-40B4-BE49-F238E27FC236}">
                <a16:creationId xmlns:a16="http://schemas.microsoft.com/office/drawing/2014/main" id="{5C47ABFB-FD54-4E35-C81B-FC1EB7D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4FF565D7-ADC3-1926-1E98-A9B9078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4AAF3505-40B2-9619-3973-782986A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0267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Connector API — Rp8 jt</a:t>
            </a:r>
          </a:p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C152B318-E312-E8DB-F0FB-359CFA2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42271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Inbound/outbound contract</a:t>
            </a:r>
          </a:p>
        </p:txBody>
      </p:sp>
      <p:sp>
        <p:nvSpPr>
          <p:cNvPr id="17" name="Shape 16">
            <a:extLst xmlns:a="http://schemas.openxmlformats.org/drawingml/2006/main">
              <a:ext uri="{FF2B5EF4-FFF2-40B4-BE49-F238E27FC236}">
                <a16:creationId xmlns:a16="http://schemas.microsoft.com/office/drawing/2014/main" id="{5EA6D429-777C-6F7C-E77F-5F08101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9E16CB97-DCF0-F556-6F42-0F5BAFB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8">
            <a:extLst xmlns:a="http://schemas.openxmlformats.org/drawingml/2006/main">
              <a:ext uri="{FF2B5EF4-FFF2-40B4-BE49-F238E27FC236}">
                <a16:creationId xmlns:a16="http://schemas.microsoft.com/office/drawing/2014/main" id="{12A4046C-7434-29E9-2D9D-E4D9880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135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Portal role mapping — Rp5 jt</a:t>
            </a:r>
          </a:p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ADC44757-B9A3-3BD5-BED5-840C565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29139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Launcher + role context</a:t>
            </a:r>
          </a:p>
        </p:txBody>
      </p:sp>
      <p:sp>
        <p:nvSpPr>
          <p:cNvPr id="21" name="Shape 20">
            <a:extLst xmlns:a="http://schemas.openxmlformats.org/drawingml/2006/main">
              <a:ext uri="{FF2B5EF4-FFF2-40B4-BE49-F238E27FC236}">
                <a16:creationId xmlns:a16="http://schemas.microsoft.com/office/drawing/2014/main" id="{AE58B5AC-09BC-DEFC-128C-884CE24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5A0B1790-7C0C-098E-7B91-F0396A03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15A6C6E1-5DD8-BB2C-399B-F04630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7135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Portal role mapping — Rp5 jt</a:t>
            </a:r>
          </a:p>
        </p:txBody>
      </p:sp>
      <p:sp>
        <p:nvSpPr>
          <p:cNvPr id="24" name="Text 23">
            <a:extLst xmlns:a="http://schemas.openxmlformats.org/drawingml/2006/main">
              <a:ext uri="{FF2B5EF4-FFF2-40B4-BE49-F238E27FC236}">
                <a16:creationId xmlns:a16="http://schemas.microsoft.com/office/drawing/2014/main" id="{A65F53EA-8621-782B-5129-C6C3F35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29139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Launcher + role context</a:t>
            </a:r>
          </a:p>
        </p:txBody>
      </p:sp>
      <p:sp>
        <p:nvSpPr>
          <p:cNvPr id="25" name="Shape 24">
            <a:extLst xmlns:a="http://schemas.openxmlformats.org/drawingml/2006/main">
              <a:ext uri="{FF2B5EF4-FFF2-40B4-BE49-F238E27FC236}">
                <a16:creationId xmlns:a16="http://schemas.microsoft.com/office/drawing/2014/main" id="{8F8DF317-D9C6-D8CF-1720-5A98C4E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99A4A516-47E5-A5B5-DD45-351E8C2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9DD59027-863A-D9FB-E615-0F1268E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84003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Sync &amp; error handling — Rp4 jt</a:t>
            </a:r>
          </a:p>
        </p:txBody>
      </p:sp>
      <p:sp>
        <p:nvSpPr>
          <p:cNvPr id="28" name="Text 27">
            <a:extLst xmlns:a="http://schemas.openxmlformats.org/drawingml/2006/main">
              <a:ext uri="{FF2B5EF4-FFF2-40B4-BE49-F238E27FC236}">
                <a16:creationId xmlns:a16="http://schemas.microsoft.com/office/drawing/2014/main" id="{C576D26E-E2C0-CAB7-1B14-0B5B111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6007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Queue, retry, sync log</a:t>
            </a:r>
          </a:p>
        </p:txBody>
      </p:sp>
      <p:sp>
        <p:nvSpPr>
          <p:cNvPr id="29" name="Shape 28">
            <a:extLst xmlns:a="http://schemas.openxmlformats.org/drawingml/2006/main">
              <a:ext uri="{FF2B5EF4-FFF2-40B4-BE49-F238E27FC236}">
                <a16:creationId xmlns:a16="http://schemas.microsoft.com/office/drawing/2014/main" id="{D5745726-FDEF-2CE9-CE52-ED73CA9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39A9F4C-6997-70AE-29D0-73E433A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D514EB64-1271-28F0-7F89-2D926AF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84003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Sync &amp; error handling — Rp4 jt</a:t>
            </a:r>
          </a:p>
        </p:txBody>
      </p:sp>
      <p:sp>
        <p:nvSpPr>
          <p:cNvPr id="32" name="Text 31">
            <a:extLst xmlns:a="http://schemas.openxmlformats.org/drawingml/2006/main">
              <a:ext uri="{FF2B5EF4-FFF2-40B4-BE49-F238E27FC236}">
                <a16:creationId xmlns:a16="http://schemas.microsoft.com/office/drawing/2014/main" id="{7C067BC7-FF0F-2455-FB12-1AEA0B1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16007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Queue, retry, sync log</a:t>
            </a:r>
          </a:p>
        </p:txBody>
      </p:sp>
      <p:sp>
        <p:nvSpPr>
          <p:cNvPr id="33" name="Shape 32">
            <a:extLst xmlns:a="http://schemas.openxmlformats.org/drawingml/2006/main">
              <a:ext uri="{FF2B5EF4-FFF2-40B4-BE49-F238E27FC236}">
                <a16:creationId xmlns:a16="http://schemas.microsoft.com/office/drawing/2014/main" id="{C111B136-F609-A2B1-55ED-52BB3D1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3">
            <a:extLst xmlns:a="http://schemas.openxmlformats.org/drawingml/2006/main">
              <a:ext uri="{FF2B5EF4-FFF2-40B4-BE49-F238E27FC236}">
                <a16:creationId xmlns:a16="http://schemas.microsoft.com/office/drawing/2014/main" id="{47D07F1B-6AB6-FECD-3D2D-0356B3E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4">
            <a:extLst xmlns:a="http://schemas.openxmlformats.org/drawingml/2006/main">
              <a:ext uri="{FF2B5EF4-FFF2-40B4-BE49-F238E27FC236}">
                <a16:creationId xmlns:a16="http://schemas.microsoft.com/office/drawing/2014/main" id="{1B9ABF14-C5AB-6C6F-9FD7-ABE9D6A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70871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KPI contribution — Rp3 jt</a:t>
            </a:r>
          </a:p>
        </p:txBody>
      </p:sp>
      <p:sp>
        <p:nvSpPr>
          <p:cNvPr id="36" name="Text 35">
            <a:extLst xmlns:a="http://schemas.openxmlformats.org/drawingml/2006/main">
              <a:ext uri="{FF2B5EF4-FFF2-40B4-BE49-F238E27FC236}">
                <a16:creationId xmlns:a16="http://schemas.microsoft.com/office/drawing/2014/main" id="{DA1816A7-4563-E541-69B2-34500F8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602875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module snapshot</a:t>
            </a:r>
          </a:p>
        </p:txBody>
      </p:sp>
      <p:sp>
        <p:nvSpPr>
          <p:cNvPr id="37" name="Shape 36">
            <a:extLst xmlns:a="http://schemas.openxmlformats.org/drawingml/2006/main">
              <a:ext uri="{FF2B5EF4-FFF2-40B4-BE49-F238E27FC236}">
                <a16:creationId xmlns:a16="http://schemas.microsoft.com/office/drawing/2014/main" id="{B2B4932E-D335-D19E-F8A3-4D7D4CB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7">
            <a:extLst xmlns:a="http://schemas.openxmlformats.org/drawingml/2006/main">
              <a:ext uri="{FF2B5EF4-FFF2-40B4-BE49-F238E27FC236}">
                <a16:creationId xmlns:a16="http://schemas.microsoft.com/office/drawing/2014/main" id="{FD097648-EE19-9C79-715F-0E49F1A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8">
            <a:extLst xmlns:a="http://schemas.openxmlformats.org/drawingml/2006/main">
              <a:ext uri="{FF2B5EF4-FFF2-40B4-BE49-F238E27FC236}">
                <a16:creationId xmlns:a16="http://schemas.microsoft.com/office/drawing/2014/main" id="{C0DB04F0-C4CC-21DC-AA48-0E027F9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70871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KPI contribution — Rp3 jt</a:t>
            </a:r>
          </a:p>
        </p:txBody>
      </p:sp>
      <p:sp>
        <p:nvSpPr>
          <p:cNvPr id="40" name="Text 39">
            <a:extLst xmlns:a="http://schemas.openxmlformats.org/drawingml/2006/main">
              <a:ext uri="{FF2B5EF4-FFF2-40B4-BE49-F238E27FC236}">
                <a16:creationId xmlns:a16="http://schemas.microsoft.com/office/drawing/2014/main" id="{3EA7CCCC-A5B3-C418-4D53-099DED2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602875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Lab module snapshot</a:t>
            </a:r>
          </a:p>
        </p:txBody>
      </p:sp>
      <p:sp>
        <p:nvSpPr>
          <p:cNvPr id="41" name="Text 40">
            <a:extLst xmlns:a="http://schemas.openxmlformats.org/drawingml/2006/main">
              <a:ext uri="{FF2B5EF4-FFF2-40B4-BE49-F238E27FC236}">
                <a16:creationId xmlns:a16="http://schemas.microsoft.com/office/drawing/2014/main" id="{9D24DC5C-47ED-3192-36CD-6B52C62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46520"/>
            <a:ext cx="228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052539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1CE3DE7-403B-D113-BE6D-AF48702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Tiga termin quotation: 40% • 40% • 20%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A30A921-4686-BE01-89A1-17CCF05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Termin 1 saat start; Termin 2 ketika progress ≥50%; Termin 3 setelah finish dan handover.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F791B99B-248C-B790-C04F-DE02D48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81" y="1457966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Combined cash flow: Rp94 juta → Rp94 juta → Rp47 juta.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B242B306-636D-F9AF-4D68-3ED094B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B42318"/>
                </a:solidFill>
              </a:rPr>
              <a:t>Plant • Rp130 jt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A8133414-3079-4241-0615-3D8EC0C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8B57"/>
                </a:solidFill>
              </a:rPr>
              <a:t>Lab • Rp105 jt</a:t>
            </a:r>
          </a:p>
        </p:txBody>
      </p:sp>
      <p:sp>
        <p:nvSpPr>
          <p:cNvPr id="8" name="Shape 7">
            <a:extLst xmlns:a="http://schemas.openxmlformats.org/drawingml/2006/main">
              <a:ext uri="{FF2B5EF4-FFF2-40B4-BE49-F238E27FC236}">
                <a16:creationId xmlns:a16="http://schemas.microsoft.com/office/drawing/2014/main" id="{92411E75-D47B-AA4B-6BB0-4CBB70AA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8227"/>
            <a:ext cx="960120" cy="5943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8">
            <a:extLst xmlns:a="http://schemas.openxmlformats.org/drawingml/2006/main">
              <a:ext uri="{FF2B5EF4-FFF2-40B4-BE49-F238E27FC236}">
                <a16:creationId xmlns:a16="http://schemas.microsoft.com/office/drawing/2014/main" id="{3956D000-6EE1-B455-9DCD-548FB19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5AD30E27-132D-B95A-8D18-C6922618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64A7651B-E4A2-3D2A-9DA3-87BC3CD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10267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1 — 40%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136F959E-600C-E1AA-3960-9146869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271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Rp52 juta • Start pengerjaan</a:t>
            </a:r>
          </a:p>
        </p:txBody>
      </p:sp>
      <p:sp>
        <p:nvSpPr>
          <p:cNvPr id="13" name="Shape 12">
            <a:extLst xmlns:a="http://schemas.openxmlformats.org/drawingml/2006/main">
              <a:ext uri="{FF2B5EF4-FFF2-40B4-BE49-F238E27FC236}">
                <a16:creationId xmlns:a16="http://schemas.microsoft.com/office/drawing/2014/main" id="{5C47ABFB-FD54-4E35-C81B-FC1EB7D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4FF565D7-ADC3-1926-1E98-A9B9078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4AAF3505-40B2-9619-3973-782986A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0267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1 — 40%</a:t>
            </a:r>
          </a:p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C152B318-E312-E8DB-F0FB-359CFA2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42271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Rp42 juta • Start pengerjaan</a:t>
            </a:r>
          </a:p>
        </p:txBody>
      </p:sp>
      <p:sp>
        <p:nvSpPr>
          <p:cNvPr id="17" name="Shape 16">
            <a:extLst xmlns:a="http://schemas.openxmlformats.org/drawingml/2006/main">
              <a:ext uri="{FF2B5EF4-FFF2-40B4-BE49-F238E27FC236}">
                <a16:creationId xmlns:a16="http://schemas.microsoft.com/office/drawing/2014/main" id="{5EA6D429-777C-6F7C-E77F-5F08101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9E16CB97-DCF0-F556-6F42-0F5BAFB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8">
            <a:extLst xmlns:a="http://schemas.openxmlformats.org/drawingml/2006/main">
              <a:ext uri="{FF2B5EF4-FFF2-40B4-BE49-F238E27FC236}">
                <a16:creationId xmlns:a16="http://schemas.microsoft.com/office/drawing/2014/main" id="{12A4046C-7434-29E9-2D9D-E4D9880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135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2 — 40%</a:t>
            </a:r>
          </a:p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ADC44757-B9A3-3BD5-BED5-840C565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29139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Rp52 juta • Progress 50% up</a:t>
            </a:r>
          </a:p>
        </p:txBody>
      </p:sp>
      <p:sp>
        <p:nvSpPr>
          <p:cNvPr id="21" name="Shape 20">
            <a:extLst xmlns:a="http://schemas.openxmlformats.org/drawingml/2006/main">
              <a:ext uri="{FF2B5EF4-FFF2-40B4-BE49-F238E27FC236}">
                <a16:creationId xmlns:a16="http://schemas.microsoft.com/office/drawing/2014/main" id="{AE58B5AC-09BC-DEFC-128C-884CE24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5A0B1790-7C0C-098E-7B91-F0396A03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15A6C6E1-5DD8-BB2C-399B-F04630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7135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2 — 40%</a:t>
            </a:r>
          </a:p>
        </p:txBody>
      </p:sp>
      <p:sp>
        <p:nvSpPr>
          <p:cNvPr id="24" name="Text 23">
            <a:extLst xmlns:a="http://schemas.openxmlformats.org/drawingml/2006/main">
              <a:ext uri="{FF2B5EF4-FFF2-40B4-BE49-F238E27FC236}">
                <a16:creationId xmlns:a16="http://schemas.microsoft.com/office/drawing/2014/main" id="{A65F53EA-8621-782B-5129-C6C3F35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29139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Rp42 juta • Progress 50% up</a:t>
            </a:r>
          </a:p>
        </p:txBody>
      </p:sp>
      <p:sp>
        <p:nvSpPr>
          <p:cNvPr id="25" name="Shape 24">
            <a:extLst xmlns:a="http://schemas.openxmlformats.org/drawingml/2006/main">
              <a:ext uri="{FF2B5EF4-FFF2-40B4-BE49-F238E27FC236}">
                <a16:creationId xmlns:a16="http://schemas.microsoft.com/office/drawing/2014/main" id="{8F8DF317-D9C6-D8CF-1720-5A98C4E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99A4A516-47E5-A5B5-DD45-351E8C2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9DD59027-863A-D9FB-E615-0F1268E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84003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3 — 20%</a:t>
            </a:r>
          </a:p>
        </p:txBody>
      </p:sp>
      <p:sp>
        <p:nvSpPr>
          <p:cNvPr id="28" name="Text 27">
            <a:extLst xmlns:a="http://schemas.openxmlformats.org/drawingml/2006/main">
              <a:ext uri="{FF2B5EF4-FFF2-40B4-BE49-F238E27FC236}">
                <a16:creationId xmlns:a16="http://schemas.microsoft.com/office/drawing/2014/main" id="{C576D26E-E2C0-CAB7-1B14-0B5B111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6007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Rp26 juta • Finish + handover</a:t>
            </a:r>
          </a:p>
        </p:txBody>
      </p:sp>
      <p:sp>
        <p:nvSpPr>
          <p:cNvPr id="29" name="Shape 28">
            <a:extLst xmlns:a="http://schemas.openxmlformats.org/drawingml/2006/main">
              <a:ext uri="{FF2B5EF4-FFF2-40B4-BE49-F238E27FC236}">
                <a16:creationId xmlns:a16="http://schemas.microsoft.com/office/drawing/2014/main" id="{D5745726-FDEF-2CE9-CE52-ED73CA9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39A9F4C-6997-70AE-29D0-73E433A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D514EB64-1271-28F0-7F89-2D926AF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84003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3 — 20%</a:t>
            </a:r>
          </a:p>
        </p:txBody>
      </p:sp>
      <p:sp>
        <p:nvSpPr>
          <p:cNvPr id="32" name="Text 31">
            <a:extLst xmlns:a="http://schemas.openxmlformats.org/drawingml/2006/main">
              <a:ext uri="{FF2B5EF4-FFF2-40B4-BE49-F238E27FC236}">
                <a16:creationId xmlns:a16="http://schemas.microsoft.com/office/drawing/2014/main" id="{7C067BC7-FF0F-2455-FB12-1AEA0B1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16007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Rp21 juta • Finish + handover</a:t>
            </a:r>
          </a:p>
        </p:txBody>
      </p:sp>
      <p:sp>
        <p:nvSpPr>
          <p:cNvPr id="33" name="Shape 32">
            <a:extLst xmlns:a="http://schemas.openxmlformats.org/drawingml/2006/main">
              <a:ext uri="{FF2B5EF4-FFF2-40B4-BE49-F238E27FC236}">
                <a16:creationId xmlns:a16="http://schemas.microsoft.com/office/drawing/2014/main" id="{C111B136-F609-A2B1-55ED-52BB3D1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3">
            <a:extLst xmlns:a="http://schemas.openxmlformats.org/drawingml/2006/main">
              <a:ext uri="{FF2B5EF4-FFF2-40B4-BE49-F238E27FC236}">
                <a16:creationId xmlns:a16="http://schemas.microsoft.com/office/drawing/2014/main" id="{47D07F1B-6AB6-FECD-3D2D-0356B3E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4">
            <a:extLst xmlns:a="http://schemas.openxmlformats.org/drawingml/2006/main">
              <a:ext uri="{FF2B5EF4-FFF2-40B4-BE49-F238E27FC236}">
                <a16:creationId xmlns:a16="http://schemas.microsoft.com/office/drawing/2014/main" id="{1B9ABF14-C5AB-6C6F-9FD7-ABE9D6A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70871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Total Plant</a:t>
            </a:r>
          </a:p>
        </p:txBody>
      </p:sp>
      <p:sp>
        <p:nvSpPr>
          <p:cNvPr id="36" name="Text 35">
            <a:extLst xmlns:a="http://schemas.openxmlformats.org/drawingml/2006/main">
              <a:ext uri="{FF2B5EF4-FFF2-40B4-BE49-F238E27FC236}">
                <a16:creationId xmlns:a16="http://schemas.microsoft.com/office/drawing/2014/main" id="{DA1816A7-4563-E541-69B2-34500F8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602875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Rp130 juta • quotation project</a:t>
            </a:r>
          </a:p>
        </p:txBody>
      </p:sp>
      <p:sp>
        <p:nvSpPr>
          <p:cNvPr id="37" name="Shape 36">
            <a:extLst xmlns:a="http://schemas.openxmlformats.org/drawingml/2006/main">
              <a:ext uri="{FF2B5EF4-FFF2-40B4-BE49-F238E27FC236}">
                <a16:creationId xmlns:a16="http://schemas.microsoft.com/office/drawing/2014/main" id="{B2B4932E-D335-D19E-F8A3-4D7D4CB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7">
            <a:extLst xmlns:a="http://schemas.openxmlformats.org/drawingml/2006/main">
              <a:ext uri="{FF2B5EF4-FFF2-40B4-BE49-F238E27FC236}">
                <a16:creationId xmlns:a16="http://schemas.microsoft.com/office/drawing/2014/main" id="{FD097648-EE19-9C79-715F-0E49F1A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8">
            <a:extLst xmlns:a="http://schemas.openxmlformats.org/drawingml/2006/main">
              <a:ext uri="{FF2B5EF4-FFF2-40B4-BE49-F238E27FC236}">
                <a16:creationId xmlns:a16="http://schemas.microsoft.com/office/drawing/2014/main" id="{C0DB04F0-C4CC-21DC-AA48-0E027F9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70871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Total Lab/SPL</a:t>
            </a:r>
          </a:p>
        </p:txBody>
      </p:sp>
      <p:sp>
        <p:nvSpPr>
          <p:cNvPr id="40" name="Text 39">
            <a:extLst xmlns:a="http://schemas.openxmlformats.org/drawingml/2006/main">
              <a:ext uri="{FF2B5EF4-FFF2-40B4-BE49-F238E27FC236}">
                <a16:creationId xmlns:a16="http://schemas.microsoft.com/office/drawing/2014/main" id="{3EA7CCCC-A5B3-C418-4D53-099DED2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602875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Rp105 juta • quotation project</a:t>
            </a:r>
          </a:p>
        </p:txBody>
      </p:sp>
      <p:sp>
        <p:nvSpPr>
          <p:cNvPr id="41" name="Text 40">
            <a:extLst xmlns:a="http://schemas.openxmlformats.org/drawingml/2006/main">
              <a:ext uri="{FF2B5EF4-FFF2-40B4-BE49-F238E27FC236}">
                <a16:creationId xmlns:a16="http://schemas.microsoft.com/office/drawing/2014/main" id="{9D24DC5C-47ED-3192-36CD-6B52C62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46520"/>
            <a:ext cx="228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052539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9FCB73F-121B-869A-2532-FD912A5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Keputusan inti harus ditutup pada awal minggu pertama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41AFC61-E744-8857-D9C3-C2B4DBE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Decision log mencatat 12 item; prioritas tertinggi dikunci Day 1–2 agar build tidak tertahan.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54C20192-094F-EF56-303D-4B90D41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1416331"/>
            <a:ext cx="7955280" cy="900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Scope sudah terdefinisi; yang tersisa adalah mengunci aturan dan ownership lintas sistem.</a:t>
            </a:r>
          </a:p>
        </p:txBody>
      </p:sp>
      <p:sp>
        <p:nvSpPr>
          <p:cNvPr id="6" name="Shape 5">
            <a:extLst xmlns:a="http://schemas.openxmlformats.org/drawingml/2006/main">
              <a:ext uri="{FF2B5EF4-FFF2-40B4-BE49-F238E27FC236}">
                <a16:creationId xmlns:a16="http://schemas.microsoft.com/office/drawing/2014/main" id="{C5E6F848-4125-C1CA-F604-C7710B4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6">
            <a:extLst xmlns:a="http://schemas.openxmlformats.org/drawingml/2006/main">
              <a:ext uri="{FF2B5EF4-FFF2-40B4-BE49-F238E27FC236}">
                <a16:creationId xmlns:a16="http://schemas.microsoft.com/office/drawing/2014/main" id="{984CAB0A-E2CC-36BA-2DF1-79A0E38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4D6E1264-95FE-9C2A-807A-E8B32C2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Field &amp; validation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F2BA679-C5BB-BD87-BCD5-4C110EB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Field list Plant/Lab, PP rule, photo minimum, serta edit/reopen policy.</a:t>
            </a:r>
          </a:p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D747386B-ADA1-556E-1B24-7585544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10">
            <a:extLst xmlns:a="http://schemas.openxmlformats.org/drawingml/2006/main">
              <a:ext uri="{FF2B5EF4-FFF2-40B4-BE49-F238E27FC236}">
                <a16:creationId xmlns:a16="http://schemas.microsoft.com/office/drawing/2014/main" id="{EA42CFAF-8948-8EAE-3B03-F7B0318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E5D51DB1-60B1-7EC4-F430-41FFBEB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Identity &amp; master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F2CD9AFE-68DB-F8C3-6929-67D5F04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Format Lot/Request/Sample ID dan boundary shared master.</a:t>
            </a:r>
          </a:p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72A3E1CD-809B-D24F-B0D7-8D4A37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4">
            <a:extLst xmlns:a="http://schemas.openxmlformats.org/drawingml/2006/main">
              <a:ext uri="{FF2B5EF4-FFF2-40B4-BE49-F238E27FC236}">
                <a16:creationId xmlns:a16="http://schemas.microsoft.com/office/drawing/2014/main" id="{2880D5D9-F629-39E9-A21D-C4EBE25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3A45AB53-B60D-1270-A45E-A712044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Bridge &amp; access</a:t>
            </a:r>
          </a:p>
        </p:txBody>
      </p:sp>
      <p:sp>
        <p:nvSpPr>
          <p:cNvPr id="17" name="Text 16">
            <a:extLst xmlns:a="http://schemas.openxmlformats.org/drawingml/2006/main">
              <a:ext uri="{FF2B5EF4-FFF2-40B4-BE49-F238E27FC236}">
                <a16:creationId xmlns:a16="http://schemas.microsoft.com/office/drawing/2014/main" id="{BC9BF9E9-36EC-D7EC-D523-D394185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Payload/event v1.0, portal login/SSO, dan role mapping.</a:t>
            </a:r>
          </a:p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1684EA69-926B-EFDD-D568-D6D0958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8">
            <a:extLst xmlns:a="http://schemas.openxmlformats.org/drawingml/2006/main">
              <a:ext uri="{FF2B5EF4-FFF2-40B4-BE49-F238E27FC236}">
                <a16:creationId xmlns:a16="http://schemas.microsoft.com/office/drawing/2014/main" id="{771BB120-AB6C-CAA0-404B-D4644E1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6B34202F-2087-316F-3C70-7F73A0D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Deployment &amp; reporting</a:t>
            </a:r>
          </a:p>
        </p:txBody>
      </p:sp>
      <p:sp>
        <p:nvSpPr>
          <p:cNvPr id="21" name="Text 20">
            <a:extLst xmlns:a="http://schemas.openxmlformats.org/drawingml/2006/main">
              <a:ext uri="{FF2B5EF4-FFF2-40B4-BE49-F238E27FC236}">
                <a16:creationId xmlns:a16="http://schemas.microsoft.com/office/drawing/2014/main" id="{C466A4CF-65B1-7C06-C1DC-BCD4828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KPI, export, environment, backup, dan retention.</a:t>
            </a:r>
          </a:p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CBCA4C42-8683-D3F3-4D5C-F7034426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" y="5061732"/>
            <a:ext cx="1014984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83630229-7605-48AE-23DB-1594349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" y="5180604"/>
            <a:ext cx="380438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2A47"/>
                </a:solidFill>
              </a:rPr>
              <a:t>Non-negotiable acceptance gates</a:t>
            </a:r>
          </a:p>
        </p:txBody>
      </p:sp>
      <p:sp>
        <p:nvSpPr>
          <p:cNvPr id="24" name="Shape 23">
            <a:extLst xmlns:a="http://schemas.openxmlformats.org/drawingml/2006/main">
              <a:ext uri="{FF2B5EF4-FFF2-40B4-BE49-F238E27FC236}">
                <a16:creationId xmlns:a16="http://schemas.microsoft.com/office/drawing/2014/main" id="{09F76418-6EA6-52CB-50F8-29E4B07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5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4">
            <a:extLst xmlns:a="http://schemas.openxmlformats.org/drawingml/2006/main">
              <a:ext uri="{FF2B5EF4-FFF2-40B4-BE49-F238E27FC236}">
                <a16:creationId xmlns:a16="http://schemas.microsoft.com/office/drawing/2014/main" id="{003DEE91-9EFB-34A7-E247-BCCA52B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31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Scope signed</a:t>
            </a:r>
          </a:p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0551D6C1-A12F-6CA8-468C-C4A75FF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F2D40287-98FF-122D-8916-DEC20B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5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API contract v1.0</a:t>
            </a:r>
          </a:p>
        </p:txBody>
      </p:sp>
      <p:sp>
        <p:nvSpPr>
          <p:cNvPr id="28" name="Shape 27">
            <a:extLst xmlns:a="http://schemas.openxmlformats.org/drawingml/2006/main">
              <a:ext uri="{FF2B5EF4-FFF2-40B4-BE49-F238E27FC236}">
                <a16:creationId xmlns:a16="http://schemas.microsoft.com/office/drawing/2014/main" id="{35D090AD-644A-4D28-98BB-7F717BF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8">
            <a:extLst xmlns:a="http://schemas.openxmlformats.org/drawingml/2006/main">
              <a:ext uri="{FF2B5EF4-FFF2-40B4-BE49-F238E27FC236}">
                <a16:creationId xmlns:a16="http://schemas.microsoft.com/office/drawing/2014/main" id="{BF8BD781-51AC-EF32-80EE-A6E77F8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9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Prototype approved</a:t>
            </a:r>
          </a:p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A4603F8-4F48-13B1-94A0-CB549F9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7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3A99BE86-3D98-C2DD-1100-FFF9A46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03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Critical UAT closed</a:t>
            </a:r>
          </a:p>
        </p:txBody>
      </p:sp>
      <p:sp>
        <p:nvSpPr>
          <p:cNvPr id="32" name="Shape 31">
            <a:extLst xmlns:a="http://schemas.openxmlformats.org/drawingml/2006/main">
              <a:ext uri="{FF2B5EF4-FFF2-40B4-BE49-F238E27FC236}">
                <a16:creationId xmlns:a16="http://schemas.microsoft.com/office/drawing/2014/main" id="{CB289C1B-924D-C4DD-5C35-9D425D5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51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2">
            <a:extLst xmlns:a="http://schemas.openxmlformats.org/drawingml/2006/main">
              <a:ext uri="{FF2B5EF4-FFF2-40B4-BE49-F238E27FC236}">
                <a16:creationId xmlns:a16="http://schemas.microsoft.com/office/drawing/2014/main" id="{DF12950A-FD06-831E-ACD2-8A59080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72" y="5823234"/>
            <a:ext cx="1554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Backup + handover</a:t>
            </a:r>
          </a:p>
        </p:txBody>
      </p:sp>
    </p:spTree>
    <p:extLst>
      <p:ext uri="{BB962C8B-B14F-4D97-AF65-F5344CB8AC3E}">
        <p14:creationId xmlns:p14="http://schemas.microsoft.com/office/powerpoint/2010/main" val="18799169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095394E-144D-6FE7-AB05-17D11C73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Approve quotation Rp235 juta dan mobilisasi 4 minggu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A745DF2-10D9-9CD6-87B4-5D3D577C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Architecture dan scope siap; field, rules, dan deployment decision dikunci saat kick-off.</a:t>
            </a:r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E1793846-D3EE-ECEF-8D31-1497D8E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722" y="1674521"/>
            <a:ext cx="9136556" cy="698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Approval membuka jalur delivery 4 minggu menuju finish dan handover.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06BC7BF-E9A1-6CE6-FCA0-40881F2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9DF32BF-A47F-613F-B206-404D54C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7AF9EC-3C59-3FDD-C4FC-970C40D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6012F34-F3EC-BDBC-357A-34BD576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Saat ini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90AEAF0-854B-AAA7-D25E-616A276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Approve MVP Rp235 juta + termin 40/40/20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481514D-11F2-CF75-417C-CDA2F2E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6A765E9-397A-6016-F2CB-775E8AFD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964E90-525F-9A2C-EFE9-0952CA3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EDA370-CE83-3C32-D965-16BCA38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W1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98C8B9F-BBC8-1EA7-D3FF-7E99076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Kick-off; lock field, ID, role, bridge contract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50525D7-B8C1-038C-5138-08EA3A47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B959318-7311-E36F-A5F0-EA8FF594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09CA087-4917-DBCD-BF86-361E4A1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8B7C93-D0E8-6A48-A183-632242D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W2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9C95DB5-79D5-3160-77B8-E6F4380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Progress ≥50%; Termin 2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CD806E5-66DB-F263-1AC5-E0A5FFDD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D16C719-BB2C-076D-27E6-F5A301A2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6C87B80-C9DB-08CB-2A97-4E0A0FA6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C850BC6A-694A-EC68-EAEB-D8CE89F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W3</a:t>
            </a: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F2D2967A-E447-FE91-8551-9A51EA53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Feature complete, integration, UAT prep</a:t>
            </a:r>
          </a:p>
        </p:txBody>
      </p:sp>
      <p:sp>
        <p:nvSpPr>
          <p:cNvPr id="55" name="Shape 25">
            <a:extLst xmlns:a="http://schemas.openxmlformats.org/drawingml/2006/main">
              <a:ext uri="{FF2B5EF4-FFF2-40B4-BE49-F238E27FC236}">
                <a16:creationId xmlns:a16="http://schemas.microsoft.com/office/drawing/2014/main" id="{25AAD102-C12A-41D2-386B-87C3142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Shape 26">
            <a:extLst xmlns:a="http://schemas.openxmlformats.org/drawingml/2006/main">
              <a:ext uri="{FF2B5EF4-FFF2-40B4-BE49-F238E27FC236}">
                <a16:creationId xmlns:a16="http://schemas.microsoft.com/office/drawing/2014/main" id="{8D13464C-CEC6-EA42-B6E4-83A5213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C750DB84-4171-4698-67B6-D3B6748B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2234FD75-1A06-947A-0617-81BDF9E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W4</a:t>
            </a: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4FA6AE69-DB20-A450-A8E2-440EC95F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Finish, go-live, training, handover</a:t>
            </a:r>
          </a:p>
        </p:txBody>
      </p:sp>
      <p:sp>
        <p:nvSpPr>
          <p:cNvPr id="60" name="Shape 30">
            <a:extLst xmlns:a="http://schemas.openxmlformats.org/drawingml/2006/main">
              <a:ext uri="{FF2B5EF4-FFF2-40B4-BE49-F238E27FC236}">
                <a16:creationId xmlns:a16="http://schemas.microsoft.com/office/drawing/2014/main" id="{EC0A7943-84E9-F386-3C4C-EDF2485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77840"/>
            <a:ext cx="10424160" cy="86868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E5C0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AC40A8E8-0CEC-CFD0-B6F3-DFB4F6D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70448"/>
            <a:ext cx="10012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1828"/>
                </a:solidFill>
              </a:rPr>
              <a:t>Rekomendasi: approve MVP Rp235 juta, delivery 4 minggu, serta termin 40% saat start, 40% saat progress ≥50%, dan 20% saat finish.</a:t>
            </a:r>
          </a:p>
        </p:txBody>
      </p:sp>
    </p:spTree>
    <p:extLst>
      <p:ext uri="{BB962C8B-B14F-4D97-AF65-F5344CB8AC3E}">
        <p14:creationId xmlns:p14="http://schemas.microsoft.com/office/powerpoint/2010/main" val="35308664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2026-08-02T17:15:32.4430000Z</dcterms:created>
  <dcterms:modified xsi:type="dcterms:W3CDTF">2026-08-02T17:15:32.4430000Z</dcterms:modified>
</coreProperties>
</file>